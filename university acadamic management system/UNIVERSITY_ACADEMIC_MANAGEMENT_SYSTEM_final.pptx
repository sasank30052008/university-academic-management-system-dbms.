
<file path=[Content_Types].xml><?xml version="1.0" encoding="utf-8"?>
<Types xmlns="http://schemas.openxmlformats.org/package/2006/content-types">
  <Default Extension="jpeg" ContentType="image/jpeg"/>
  <Default Extension="jpg" ContentType="image/jp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media/image10.jpg" ContentType="image/jpeg"/>
  <Override PartName="/ppt/media/image12.jpg" ContentType="image/jpeg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8"/>
  </p:notesMasterIdLst>
  <p:sldIdLst>
    <p:sldId id="256" r:id="rId2"/>
    <p:sldId id="257" r:id="rId3"/>
    <p:sldId id="290" r:id="rId4"/>
    <p:sldId id="301" r:id="rId5"/>
    <p:sldId id="302" r:id="rId6"/>
    <p:sldId id="284" r:id="rId7"/>
    <p:sldId id="303" r:id="rId8"/>
    <p:sldId id="304" r:id="rId9"/>
    <p:sldId id="300" r:id="rId10"/>
    <p:sldId id="291" r:id="rId11"/>
    <p:sldId id="305" r:id="rId12"/>
    <p:sldId id="294" r:id="rId13"/>
    <p:sldId id="295" r:id="rId14"/>
    <p:sldId id="296" r:id="rId15"/>
    <p:sldId id="268" r:id="rId16"/>
    <p:sldId id="269" r:id="rId17"/>
  </p:sldIdLst>
  <p:sldSz cx="10058400" cy="7772400"/>
  <p:notesSz cx="10058400" cy="77724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9244" autoAdjust="0"/>
    <p:restoredTop sz="94660"/>
  </p:normalViewPr>
  <p:slideViewPr>
    <p:cSldViewPr>
      <p:cViewPr varScale="1">
        <p:scale>
          <a:sx n="71" d="100"/>
          <a:sy n="71" d="100"/>
        </p:scale>
        <p:origin x="1877" y="53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4359275" cy="38893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697538" y="0"/>
            <a:ext cx="4359275" cy="38893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B419B0A-DB98-47ED-A0D2-B47FD394FE07}" type="datetimeFigureOut">
              <a:rPr lang="en-IN" smtClean="0"/>
              <a:t>29-09-2026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332163" y="971550"/>
            <a:ext cx="3394075" cy="26225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1006475" y="3740150"/>
            <a:ext cx="8045450" cy="30607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7383463"/>
            <a:ext cx="4359275" cy="38893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697538" y="7383463"/>
            <a:ext cx="4359275" cy="38893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7E471F2-2083-493A-8C9E-53209FFA1EC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4681300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7E471F2-2083-493A-8C9E-53209FFA1EC8}" type="slidenum">
              <a:rPr lang="en-IN" smtClean="0"/>
              <a:t>1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5846806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7E471F2-2083-493A-8C9E-53209FFA1EC8}" type="slidenum">
              <a:rPr lang="en-IN" smtClean="0"/>
              <a:t>15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6547911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754380" y="2409444"/>
            <a:ext cx="8549640" cy="163220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300" b="1" i="0">
                <a:solidFill>
                  <a:srgbClr val="375F92"/>
                </a:solidFill>
                <a:latin typeface="Palatino Linotype"/>
                <a:cs typeface="Palatino Linotype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508760" y="4352544"/>
            <a:ext cx="7040880" cy="19431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950" b="1" i="0">
                <a:solidFill>
                  <a:schemeClr val="tx1"/>
                </a:solidFill>
                <a:latin typeface="Palatino Linotype"/>
                <a:cs typeface="Palatino Linotype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9/29/2026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300" b="1" i="0">
                <a:solidFill>
                  <a:srgbClr val="375F92"/>
                </a:solidFill>
                <a:latin typeface="Palatino Linotype"/>
                <a:cs typeface="Palatino Linotype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1950" b="1" i="0">
                <a:solidFill>
                  <a:schemeClr val="tx1"/>
                </a:solidFill>
                <a:latin typeface="Palatino Linotype"/>
                <a:cs typeface="Palatino Linotype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9/29/2026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300" b="1" i="0">
                <a:solidFill>
                  <a:srgbClr val="375F92"/>
                </a:solidFill>
                <a:latin typeface="Palatino Linotype"/>
                <a:cs typeface="Palatino Linotype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502920" y="1787652"/>
            <a:ext cx="4375404" cy="512978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5180076" y="1787652"/>
            <a:ext cx="4375404" cy="512978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9/29/2026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300" b="1" i="0">
                <a:solidFill>
                  <a:srgbClr val="375F92"/>
                </a:solidFill>
                <a:latin typeface="Palatino Linotype"/>
                <a:cs typeface="Palatino Linotype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9/29/2026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Blank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648056" y="258722"/>
            <a:ext cx="4601366" cy="704793"/>
          </a:xfrm>
          <a:prstGeom prst="rect">
            <a:avLst/>
          </a:prstGeom>
        </p:spPr>
      </p:pic>
      <p:pic>
        <p:nvPicPr>
          <p:cNvPr id="17" name="bg object 1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530316" y="125730"/>
            <a:ext cx="4997767" cy="1045130"/>
          </a:xfrm>
          <a:prstGeom prst="rect">
            <a:avLst/>
          </a:prstGeom>
        </p:spPr>
      </p:pic>
      <p:pic>
        <p:nvPicPr>
          <p:cNvPr id="18" name="bg object 18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2663904" y="251407"/>
            <a:ext cx="4577410" cy="506849"/>
          </a:xfrm>
          <a:prstGeom prst="rect">
            <a:avLst/>
          </a:prstGeom>
        </p:spPr>
      </p:pic>
      <p:sp>
        <p:nvSpPr>
          <p:cNvPr id="19" name="bg object 19"/>
          <p:cNvSpPr/>
          <p:nvPr/>
        </p:nvSpPr>
        <p:spPr>
          <a:xfrm>
            <a:off x="2718911" y="290750"/>
            <a:ext cx="4471670" cy="400685"/>
          </a:xfrm>
          <a:custGeom>
            <a:avLst/>
            <a:gdLst/>
            <a:ahLst/>
            <a:cxnLst/>
            <a:rect l="l" t="t" r="r" b="b"/>
            <a:pathLst>
              <a:path w="4471670" h="400684">
                <a:moveTo>
                  <a:pt x="4386510" y="0"/>
                </a:moveTo>
                <a:lnTo>
                  <a:pt x="84762" y="0"/>
                </a:lnTo>
                <a:lnTo>
                  <a:pt x="51758" y="5238"/>
                </a:lnTo>
                <a:lnTo>
                  <a:pt x="24831" y="19592"/>
                </a:lnTo>
                <a:lnTo>
                  <a:pt x="6705" y="40757"/>
                </a:lnTo>
                <a:lnTo>
                  <a:pt x="0" y="66741"/>
                </a:lnTo>
                <a:lnTo>
                  <a:pt x="0" y="333813"/>
                </a:lnTo>
                <a:lnTo>
                  <a:pt x="6705" y="359797"/>
                </a:lnTo>
                <a:lnTo>
                  <a:pt x="24831" y="381066"/>
                </a:lnTo>
                <a:lnTo>
                  <a:pt x="51758" y="395316"/>
                </a:lnTo>
                <a:lnTo>
                  <a:pt x="84762" y="400554"/>
                </a:lnTo>
                <a:lnTo>
                  <a:pt x="4386510" y="400554"/>
                </a:lnTo>
                <a:lnTo>
                  <a:pt x="4419514" y="395316"/>
                </a:lnTo>
                <a:lnTo>
                  <a:pt x="4446441" y="381066"/>
                </a:lnTo>
                <a:lnTo>
                  <a:pt x="4464567" y="359797"/>
                </a:lnTo>
                <a:lnTo>
                  <a:pt x="4471273" y="333813"/>
                </a:lnTo>
                <a:lnTo>
                  <a:pt x="4471273" y="66741"/>
                </a:lnTo>
                <a:lnTo>
                  <a:pt x="4464567" y="40757"/>
                </a:lnTo>
                <a:lnTo>
                  <a:pt x="4446441" y="19592"/>
                </a:lnTo>
                <a:lnTo>
                  <a:pt x="4419514" y="5238"/>
                </a:lnTo>
                <a:lnTo>
                  <a:pt x="4386510" y="0"/>
                </a:lnTo>
                <a:close/>
              </a:path>
            </a:pathLst>
          </a:custGeom>
          <a:solidFill>
            <a:srgbClr val="FF6600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20" name="bg object 20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3292554" y="282840"/>
            <a:ext cx="3375117" cy="569714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9/29/2026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3830970" y="881554"/>
            <a:ext cx="2528570" cy="37528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300" b="1" i="0">
                <a:solidFill>
                  <a:srgbClr val="375F92"/>
                </a:solidFill>
                <a:latin typeface="Palatino Linotype"/>
                <a:cs typeface="Palatino Linotype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621188" y="1409149"/>
            <a:ext cx="8949055" cy="329437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950" b="1" i="0">
                <a:solidFill>
                  <a:schemeClr val="tx1"/>
                </a:solidFill>
                <a:latin typeface="Palatino Linotype"/>
                <a:cs typeface="Palatino Linotype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3419856" y="7228332"/>
            <a:ext cx="3218688" cy="3886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502920" y="7228332"/>
            <a:ext cx="2313432" cy="3886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9/29/2026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7242048" y="7228332"/>
            <a:ext cx="2313432" cy="3886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8.png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8.png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9.png"/><Relationship Id="rId5" Type="http://schemas.openxmlformats.org/officeDocument/2006/relationships/image" Target="../media/image6.jpg"/><Relationship Id="rId4" Type="http://schemas.openxmlformats.org/officeDocument/2006/relationships/image" Target="../media/image8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.jpg"/><Relationship Id="rId5" Type="http://schemas.openxmlformats.org/officeDocument/2006/relationships/image" Target="../media/image8.png"/><Relationship Id="rId4" Type="http://schemas.openxmlformats.org/officeDocument/2006/relationships/image" Target="../media/image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.jpeg"/><Relationship Id="rId5" Type="http://schemas.openxmlformats.org/officeDocument/2006/relationships/image" Target="../media/image8.png"/><Relationship Id="rId4" Type="http://schemas.openxmlformats.org/officeDocument/2006/relationships/image" Target="../media/image2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2.jpg"/><Relationship Id="rId5" Type="http://schemas.openxmlformats.org/officeDocument/2006/relationships/image" Target="../media/image8.png"/><Relationship Id="rId4" Type="http://schemas.openxmlformats.org/officeDocument/2006/relationships/image" Target="../media/image2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8.png"/><Relationship Id="rId4" Type="http://schemas.openxmlformats.org/officeDocument/2006/relationships/image" Target="../media/image2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8.png"/><Relationship Id="rId4" Type="http://schemas.openxmlformats.org/officeDocument/2006/relationships/image" Target="../media/image2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8.png"/><Relationship Id="rId4" Type="http://schemas.openxmlformats.org/officeDocument/2006/relationships/image" Target="../media/image2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svg"/><Relationship Id="rId13" Type="http://schemas.openxmlformats.org/officeDocument/2006/relationships/image" Target="../media/image20.svg"/><Relationship Id="rId3" Type="http://schemas.openxmlformats.org/officeDocument/2006/relationships/image" Target="../media/image7.png"/><Relationship Id="rId7" Type="http://schemas.openxmlformats.org/officeDocument/2006/relationships/image" Target="../media/image14.svg"/><Relationship Id="rId12" Type="http://schemas.openxmlformats.org/officeDocument/2006/relationships/image" Target="../media/image19.svg"/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3.svg"/><Relationship Id="rId11" Type="http://schemas.openxmlformats.org/officeDocument/2006/relationships/image" Target="../media/image18.svg"/><Relationship Id="rId5" Type="http://schemas.openxmlformats.org/officeDocument/2006/relationships/image" Target="../media/image8.png"/><Relationship Id="rId10" Type="http://schemas.openxmlformats.org/officeDocument/2006/relationships/image" Target="../media/image17.svg"/><Relationship Id="rId4" Type="http://schemas.openxmlformats.org/officeDocument/2006/relationships/image" Target="../media/image2.png"/><Relationship Id="rId9" Type="http://schemas.openxmlformats.org/officeDocument/2006/relationships/image" Target="../media/image16.svg"/><Relationship Id="rId14" Type="http://schemas.openxmlformats.org/officeDocument/2006/relationships/image" Target="../media/image21.sv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8.png"/><Relationship Id="rId4" Type="http://schemas.openxmlformats.org/officeDocument/2006/relationships/image" Target="../media/image2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8.png"/><Relationship Id="rId4" Type="http://schemas.openxmlformats.org/officeDocument/2006/relationships/image" Target="../media/image2.png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4.png"/><Relationship Id="rId3" Type="http://schemas.openxmlformats.org/officeDocument/2006/relationships/image" Target="../media/image7.png"/><Relationship Id="rId7" Type="http://schemas.openxmlformats.org/officeDocument/2006/relationships/image" Target="../media/image23.png"/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2.png"/><Relationship Id="rId5" Type="http://schemas.openxmlformats.org/officeDocument/2006/relationships/image" Target="../media/image8.png"/><Relationship Id="rId4" Type="http://schemas.openxmlformats.org/officeDocument/2006/relationships/image" Target="../media/image2.png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6.svg"/><Relationship Id="rId3" Type="http://schemas.openxmlformats.org/officeDocument/2006/relationships/image" Target="../media/image7.png"/><Relationship Id="rId7" Type="http://schemas.openxmlformats.org/officeDocument/2006/relationships/image" Target="../media/image25.sv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jpg"/><Relationship Id="rId5" Type="http://schemas.openxmlformats.org/officeDocument/2006/relationships/image" Target="../media/image8.png"/><Relationship Id="rId10" Type="http://schemas.openxmlformats.org/officeDocument/2006/relationships/image" Target="../media/image28.svg"/><Relationship Id="rId4" Type="http://schemas.openxmlformats.org/officeDocument/2006/relationships/image" Target="../media/image2.png"/><Relationship Id="rId9" Type="http://schemas.openxmlformats.org/officeDocument/2006/relationships/image" Target="../media/image27.sv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693969" y="211046"/>
            <a:ext cx="4610910" cy="628649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1265624" y="1197215"/>
            <a:ext cx="7467599" cy="101258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 algn="ctr">
              <a:lnSpc>
                <a:spcPct val="150000"/>
              </a:lnSpc>
              <a:spcBef>
                <a:spcPts val="90"/>
              </a:spcBef>
            </a:pPr>
            <a:r>
              <a:rPr lang="en-IN" sz="24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Database Management Systems Cornerstone Project</a:t>
            </a:r>
            <a:br>
              <a:rPr lang="en-IN" sz="22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22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Final Review (Review I &amp; II)</a:t>
            </a:r>
            <a:endParaRPr sz="2200" spc="-1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body" idx="1"/>
          </p:nvPr>
        </p:nvSpPr>
        <p:spPr>
          <a:xfrm>
            <a:off x="653494" y="2514600"/>
            <a:ext cx="8751412" cy="4333238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algn="ctr">
              <a:spcBef>
                <a:spcPts val="130"/>
              </a:spcBef>
            </a:pPr>
            <a:r>
              <a:rPr lang="en-IN" dirty="0">
                <a:solidFill>
                  <a:schemeClr val="accent1"/>
                </a:solidFill>
              </a:rPr>
              <a:t>UNIVERSITY ACADEMIC MANAGEMENT SYSTEM</a:t>
            </a:r>
          </a:p>
          <a:p>
            <a:pPr algn="ctr">
              <a:lnSpc>
                <a:spcPct val="100000"/>
              </a:lnSpc>
              <a:spcBef>
                <a:spcPts val="130"/>
              </a:spcBef>
            </a:pPr>
            <a:endParaRPr lang="en-IN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>
              <a:lnSpc>
                <a:spcPct val="100000"/>
              </a:lnSpc>
              <a:spcBef>
                <a:spcPts val="130"/>
              </a:spcBef>
            </a:pPr>
            <a:r>
              <a:rPr sz="22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Presented</a:t>
            </a:r>
            <a:r>
              <a:rPr sz="2200" spc="8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200" spc="-25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by</a:t>
            </a:r>
            <a:endParaRPr lang="en-IN" sz="2200" spc="-25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>
              <a:lnSpc>
                <a:spcPct val="100000"/>
              </a:lnSpc>
              <a:spcBef>
                <a:spcPts val="130"/>
              </a:spcBef>
            </a:pPr>
            <a:endParaRPr lang="en-IN" sz="900" spc="-25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>
              <a:lnSpc>
                <a:spcPct val="100000"/>
              </a:lnSpc>
              <a:spcBef>
                <a:spcPts val="130"/>
              </a:spcBef>
            </a:pPr>
            <a:r>
              <a:rPr lang="en-IN" sz="1800" spc="-10" dirty="0">
                <a:solidFill>
                  <a:srgbClr val="17375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B. REVANTH                                       (25B11AI167)</a:t>
            </a:r>
          </a:p>
          <a:p>
            <a:pPr algn="ctr">
              <a:lnSpc>
                <a:spcPct val="100000"/>
              </a:lnSpc>
              <a:spcBef>
                <a:spcPts val="130"/>
              </a:spcBef>
            </a:pPr>
            <a:r>
              <a:rPr lang="en-IN" sz="1800" spc="-10" dirty="0">
                <a:solidFill>
                  <a:srgbClr val="17375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CH. SASANK PAVAN TEJA             (25B11AI171)</a:t>
            </a:r>
          </a:p>
          <a:p>
            <a:pPr algn="ctr">
              <a:lnSpc>
                <a:spcPct val="100000"/>
              </a:lnSpc>
              <a:spcBef>
                <a:spcPts val="130"/>
              </a:spcBef>
            </a:pPr>
            <a:r>
              <a:rPr lang="en-IN" sz="1800" spc="-10" dirty="0">
                <a:solidFill>
                  <a:srgbClr val="17375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R. SARASWATHI SAMEERA         (25B11AIA07)</a:t>
            </a:r>
          </a:p>
          <a:p>
            <a:pPr algn="ctr">
              <a:lnSpc>
                <a:spcPct val="100000"/>
              </a:lnSpc>
              <a:spcBef>
                <a:spcPts val="130"/>
              </a:spcBef>
            </a:pPr>
            <a:r>
              <a:rPr lang="en-IN" sz="1800" spc="-10" dirty="0">
                <a:solidFill>
                  <a:srgbClr val="17375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N. YASWANTHI                                 (25B11AI816)</a:t>
            </a:r>
          </a:p>
          <a:p>
            <a:pPr marL="3810" algn="ctr">
              <a:lnSpc>
                <a:spcPct val="100000"/>
              </a:lnSpc>
              <a:spcBef>
                <a:spcPts val="750"/>
              </a:spcBef>
            </a:pPr>
            <a:endParaRPr lang="en-IN" sz="1600" spc="-1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810" algn="ctr">
              <a:lnSpc>
                <a:spcPct val="100000"/>
              </a:lnSpc>
              <a:spcBef>
                <a:spcPts val="750"/>
              </a:spcBef>
            </a:pPr>
            <a:endParaRPr lang="en-IN" sz="1650" spc="-1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810" algn="ctr">
              <a:lnSpc>
                <a:spcPct val="100000"/>
              </a:lnSpc>
              <a:spcBef>
                <a:spcPts val="750"/>
              </a:spcBef>
            </a:pPr>
            <a:endParaRPr lang="en-IN" sz="1650" spc="-1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270" algn="ctr">
              <a:lnSpc>
                <a:spcPct val="100000"/>
              </a:lnSpc>
              <a:spcBef>
                <a:spcPts val="994"/>
              </a:spcBef>
            </a:pPr>
            <a:r>
              <a:rPr sz="2200" dirty="0">
                <a:solidFill>
                  <a:srgbClr val="94373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Department</a:t>
            </a:r>
            <a:r>
              <a:rPr sz="2200" spc="-60" dirty="0">
                <a:solidFill>
                  <a:srgbClr val="94373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200" dirty="0">
                <a:solidFill>
                  <a:srgbClr val="94373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</a:t>
            </a:r>
            <a:r>
              <a:rPr lang="en-US" sz="2200" dirty="0">
                <a:solidFill>
                  <a:srgbClr val="94373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 </a:t>
            </a:r>
            <a:r>
              <a:rPr lang="en-IN" sz="2200" dirty="0">
                <a:solidFill>
                  <a:srgbClr val="94373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Artificial Intelligence &amp; Machine Learning</a:t>
            </a:r>
            <a:endParaRPr lang="en-IN" sz="2200" spc="-10" dirty="0">
              <a:solidFill>
                <a:srgbClr val="943735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270" algn="ctr">
              <a:lnSpc>
                <a:spcPct val="100000"/>
              </a:lnSpc>
              <a:spcBef>
                <a:spcPts val="994"/>
              </a:spcBef>
            </a:pPr>
            <a:endParaRPr lang="en-IN" sz="1650" spc="-10" dirty="0">
              <a:solidFill>
                <a:srgbClr val="943735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90750" y="204311"/>
            <a:ext cx="1163002" cy="424338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700000" y="1497893"/>
            <a:ext cx="4100000" cy="5595121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389890" indent="-377190">
              <a:lnSpc>
                <a:spcPct val="100000"/>
              </a:lnSpc>
              <a:spcBef>
                <a:spcPts val="130"/>
              </a:spcBef>
              <a:buFont typeface="Cambria"/>
              <a:buAutoNum type="arabicPeriod"/>
              <a:tabLst>
                <a:tab pos="389890" algn="l"/>
              </a:tabLst>
            </a:pPr>
            <a:r>
              <a:rPr lang="en-IN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Abstract</a:t>
            </a:r>
          </a:p>
          <a:p>
            <a:pPr marL="389890" indent="-377190">
              <a:lnSpc>
                <a:spcPct val="100000"/>
              </a:lnSpc>
              <a:spcBef>
                <a:spcPts val="2060"/>
              </a:spcBef>
              <a:buAutoNum type="arabicPeriod"/>
              <a:tabLst>
                <a:tab pos="389890" algn="l"/>
              </a:tabLst>
            </a:pPr>
            <a:r>
              <a:rPr lang="en-IN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Finalize title, objectives &amp; problem statement</a:t>
            </a:r>
          </a:p>
          <a:p>
            <a:pPr marL="389890" indent="-377190">
              <a:lnSpc>
                <a:spcPct val="100000"/>
              </a:lnSpc>
              <a:spcBef>
                <a:spcPts val="2060"/>
              </a:spcBef>
              <a:buAutoNum type="arabicPeriod"/>
              <a:tabLst>
                <a:tab pos="389890" algn="l"/>
              </a:tabLst>
            </a:pPr>
            <a:r>
              <a:rPr lang="en-IN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Identify entities &amp; attributes</a:t>
            </a:r>
          </a:p>
          <a:p>
            <a:pPr marL="389890" indent="-377190">
              <a:lnSpc>
                <a:spcPct val="100000"/>
              </a:lnSpc>
              <a:spcBef>
                <a:spcPts val="2060"/>
              </a:spcBef>
              <a:buAutoNum type="arabicPeriod"/>
              <a:tabLst>
                <a:tab pos="389890" algn="l"/>
              </a:tabLst>
            </a:pPr>
            <a:r>
              <a:rPr lang="en-IN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Design ER diagram &amp; relationships</a:t>
            </a:r>
          </a:p>
          <a:p>
            <a:pPr marL="389890" indent="-377190">
              <a:lnSpc>
                <a:spcPct val="100000"/>
              </a:lnSpc>
              <a:spcBef>
                <a:spcPts val="2060"/>
              </a:spcBef>
              <a:buAutoNum type="arabicPeriod"/>
              <a:tabLst>
                <a:tab pos="389890" algn="l"/>
              </a:tabLst>
            </a:pPr>
            <a:r>
              <a:rPr lang="en-IN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Prepare relational database schema</a:t>
            </a:r>
          </a:p>
          <a:p>
            <a:pPr marL="389890" indent="-377190">
              <a:lnSpc>
                <a:spcPct val="100000"/>
              </a:lnSpc>
              <a:spcBef>
                <a:spcPts val="2060"/>
              </a:spcBef>
              <a:buAutoNum type="arabicPeriod"/>
              <a:tabLst>
                <a:tab pos="389890" algn="l"/>
              </a:tabLst>
            </a:pPr>
            <a:r>
              <a:rPr lang="en-IN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Define Primary &amp; Foreign Keys</a:t>
            </a:r>
          </a:p>
          <a:p>
            <a:pPr marL="389890" indent="-377190">
              <a:lnSpc>
                <a:spcPct val="100000"/>
              </a:lnSpc>
              <a:spcBef>
                <a:spcPts val="2060"/>
              </a:spcBef>
              <a:buAutoNum type="arabicPeriod"/>
              <a:tabLst>
                <a:tab pos="389890" algn="l"/>
              </a:tabLst>
            </a:pPr>
            <a:r>
              <a:rPr lang="en-IN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Create GitHub repo &amp; responsibilities</a:t>
            </a:r>
          </a:p>
          <a:p>
            <a:pPr marL="389890" indent="-377190">
              <a:lnSpc>
                <a:spcPct val="100000"/>
              </a:lnSpc>
              <a:spcBef>
                <a:spcPts val="2060"/>
              </a:spcBef>
              <a:buAutoNum type="arabicPeriod"/>
              <a:tabLst>
                <a:tab pos="389890" algn="l"/>
              </a:tabLst>
            </a:pPr>
            <a:r>
              <a:rPr lang="en-IN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Database creation &amp; constraints</a:t>
            </a:r>
          </a:p>
        </p:txBody>
      </p:sp>
      <p:sp>
        <p:nvSpPr>
          <p:cNvPr id="20" name="object 20"/>
          <p:cNvSpPr txBox="1"/>
          <p:nvPr/>
        </p:nvSpPr>
        <p:spPr>
          <a:xfrm>
            <a:off x="5100000" y="1497893"/>
            <a:ext cx="4100000" cy="3786934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389890" indent="-377190">
              <a:lnSpc>
                <a:spcPct val="100000"/>
              </a:lnSpc>
              <a:spcBef>
                <a:spcPts val="130"/>
              </a:spcBef>
              <a:buFont typeface="Cambria"/>
              <a:buAutoNum type="arabicPeriod" startAt="9"/>
              <a:tabLst>
                <a:tab pos="389890" algn="l"/>
              </a:tabLst>
            </a:pPr>
            <a:r>
              <a:rPr lang="en-IN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Insert sample data</a:t>
            </a:r>
          </a:p>
          <a:p>
            <a:pPr marL="389890" indent="-377190">
              <a:lnSpc>
                <a:spcPct val="100000"/>
              </a:lnSpc>
              <a:spcBef>
                <a:spcPts val="2060"/>
              </a:spcBef>
              <a:buAutoNum type="arabicPeriod"/>
              <a:tabLst>
                <a:tab pos="389890" algn="l"/>
              </a:tabLst>
            </a:pPr>
            <a:r>
              <a:rPr lang="en-IN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DDL, DML &amp; DQL operations</a:t>
            </a:r>
          </a:p>
          <a:p>
            <a:pPr marL="389890" indent="-377190">
              <a:lnSpc>
                <a:spcPct val="100000"/>
              </a:lnSpc>
              <a:spcBef>
                <a:spcPts val="2060"/>
              </a:spcBef>
              <a:buAutoNum type="arabicPeriod"/>
              <a:tabLst>
                <a:tab pos="389890" algn="l"/>
              </a:tabLst>
            </a:pPr>
            <a:r>
              <a:rPr lang="en-IN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CRUD operations &amp; SQL queries</a:t>
            </a:r>
          </a:p>
          <a:p>
            <a:pPr marL="389890" indent="-377190">
              <a:lnSpc>
                <a:spcPct val="100000"/>
              </a:lnSpc>
              <a:spcBef>
                <a:spcPts val="2060"/>
              </a:spcBef>
              <a:buAutoNum type="arabicPeriod"/>
              <a:tabLst>
                <a:tab pos="389890" algn="l"/>
              </a:tabLst>
            </a:pPr>
            <a:r>
              <a:rPr lang="en-IN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Data integrity &amp; validation</a:t>
            </a:r>
          </a:p>
          <a:p>
            <a:pPr marL="389890" indent="-377190">
              <a:lnSpc>
                <a:spcPct val="100000"/>
              </a:lnSpc>
              <a:spcBef>
                <a:spcPts val="2060"/>
              </a:spcBef>
              <a:buAutoNum type="arabicPeriod"/>
              <a:tabLst>
                <a:tab pos="389890" algn="l"/>
              </a:tabLst>
            </a:pPr>
            <a:r>
              <a:rPr lang="en-IN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Project documentation</a:t>
            </a:r>
          </a:p>
          <a:p>
            <a:pPr marL="389890" indent="-377190">
              <a:lnSpc>
                <a:spcPct val="100000"/>
              </a:lnSpc>
              <a:spcBef>
                <a:spcPts val="2060"/>
              </a:spcBef>
              <a:buAutoNum type="arabicPeriod"/>
              <a:tabLst>
                <a:tab pos="389890" algn="l"/>
              </a:tabLst>
            </a:pPr>
            <a:r>
              <a:rPr lang="en-IN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Demonstrate &amp; present database</a:t>
            </a:r>
          </a:p>
          <a:p>
            <a:pPr marL="389890" indent="-377190">
              <a:lnSpc>
                <a:spcPct val="100000"/>
              </a:lnSpc>
              <a:spcBef>
                <a:spcPts val="2060"/>
              </a:spcBef>
              <a:buAutoNum type="arabicPeriod"/>
              <a:tabLst>
                <a:tab pos="389890" algn="l"/>
              </a:tabLst>
            </a:pPr>
            <a:r>
              <a:rPr lang="en-IN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</a:p>
        </p:txBody>
      </p:sp>
      <p:grpSp>
        <p:nvGrpSpPr>
          <p:cNvPr id="5" name="object 3"/>
          <p:cNvGrpSpPr/>
          <p:nvPr/>
        </p:nvGrpSpPr>
        <p:grpSpPr>
          <a:xfrm>
            <a:off x="2438400" y="33670"/>
            <a:ext cx="5334000" cy="1198311"/>
            <a:chOff x="2648188" y="47148"/>
            <a:chExt cx="5103904" cy="1198311"/>
          </a:xfrm>
        </p:grpSpPr>
        <p:pic>
          <p:nvPicPr>
            <p:cNvPr id="6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648188" y="47148"/>
              <a:ext cx="5103904" cy="1198311"/>
            </a:xfrm>
            <a:prstGeom prst="rect">
              <a:avLst/>
            </a:prstGeom>
          </p:spPr>
        </p:pic>
        <p:pic>
          <p:nvPicPr>
            <p:cNvPr id="7" name="object 5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703195" y="86439"/>
              <a:ext cx="4997767" cy="1092279"/>
            </a:xfrm>
            <a:prstGeom prst="rect">
              <a:avLst/>
            </a:prstGeom>
          </p:spPr>
        </p:pic>
        <p:pic>
          <p:nvPicPr>
            <p:cNvPr id="8" name="object 6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2828925" y="243549"/>
              <a:ext cx="4585268" cy="522565"/>
            </a:xfrm>
            <a:prstGeom prst="rect">
              <a:avLst/>
            </a:prstGeom>
          </p:spPr>
        </p:pic>
        <p:sp>
          <p:nvSpPr>
            <p:cNvPr id="9" name="object 7"/>
            <p:cNvSpPr/>
            <p:nvPr/>
          </p:nvSpPr>
          <p:spPr>
            <a:xfrm>
              <a:off x="2883931" y="282892"/>
              <a:ext cx="4479290" cy="416559"/>
            </a:xfrm>
            <a:custGeom>
              <a:avLst/>
              <a:gdLst/>
              <a:ahLst/>
              <a:cxnLst/>
              <a:rect l="l" t="t" r="r" b="b"/>
              <a:pathLst>
                <a:path w="4479290" h="416559">
                  <a:moveTo>
                    <a:pt x="4394158" y="0"/>
                  </a:moveTo>
                  <a:lnTo>
                    <a:pt x="84972" y="0"/>
                  </a:lnTo>
                  <a:lnTo>
                    <a:pt x="51863" y="5448"/>
                  </a:lnTo>
                  <a:lnTo>
                    <a:pt x="24831" y="20326"/>
                  </a:lnTo>
                  <a:lnTo>
                    <a:pt x="6705" y="42329"/>
                  </a:lnTo>
                  <a:lnTo>
                    <a:pt x="0" y="69361"/>
                  </a:lnTo>
                  <a:lnTo>
                    <a:pt x="0" y="346910"/>
                  </a:lnTo>
                  <a:lnTo>
                    <a:pt x="6705" y="373941"/>
                  </a:lnTo>
                  <a:lnTo>
                    <a:pt x="24831" y="395944"/>
                  </a:lnTo>
                  <a:lnTo>
                    <a:pt x="51863" y="410822"/>
                  </a:lnTo>
                  <a:lnTo>
                    <a:pt x="84972" y="416271"/>
                  </a:lnTo>
                  <a:lnTo>
                    <a:pt x="4394158" y="416271"/>
                  </a:lnTo>
                  <a:lnTo>
                    <a:pt x="4427267" y="410822"/>
                  </a:lnTo>
                  <a:lnTo>
                    <a:pt x="4454299" y="395944"/>
                  </a:lnTo>
                  <a:lnTo>
                    <a:pt x="4472425" y="373941"/>
                  </a:lnTo>
                  <a:lnTo>
                    <a:pt x="4479131" y="346910"/>
                  </a:lnTo>
                  <a:lnTo>
                    <a:pt x="4479131" y="69361"/>
                  </a:lnTo>
                  <a:lnTo>
                    <a:pt x="4472425" y="42329"/>
                  </a:lnTo>
                  <a:lnTo>
                    <a:pt x="4454299" y="20326"/>
                  </a:lnTo>
                  <a:lnTo>
                    <a:pt x="4427267" y="5448"/>
                  </a:lnTo>
                  <a:lnTo>
                    <a:pt x="4394158" y="0"/>
                  </a:lnTo>
                  <a:close/>
                </a:path>
              </a:pathLst>
            </a:custGeom>
            <a:solidFill>
              <a:srgbClr val="FF66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0" name="object 9"/>
          <p:cNvSpPr txBox="1">
            <a:spLocks/>
          </p:cNvSpPr>
          <p:nvPr/>
        </p:nvSpPr>
        <p:spPr>
          <a:xfrm>
            <a:off x="3604543" y="286092"/>
            <a:ext cx="2853690" cy="355225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>
            <a:lvl1pPr>
              <a:defRPr>
                <a:latin typeface="+mj-lt"/>
                <a:ea typeface="+mj-ea"/>
                <a:cs typeface="+mj-cs"/>
              </a:defRPr>
            </a:lvl1pPr>
          </a:lstStyle>
          <a:p>
            <a:pPr marL="12700" algn="ctr">
              <a:spcBef>
                <a:spcPts val="130"/>
              </a:spcBef>
            </a:pPr>
            <a:r>
              <a:rPr lang="en-IN" sz="22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Presentation Outline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90750" y="204311"/>
            <a:ext cx="1163002" cy="424338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890836" y="1524000"/>
            <a:ext cx="3618580" cy="5056512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389890" indent="-377190">
              <a:lnSpc>
                <a:spcPct val="100000"/>
              </a:lnSpc>
              <a:spcBef>
                <a:spcPts val="130"/>
              </a:spcBef>
              <a:buFont typeface="Cambria"/>
              <a:buAutoNum type="arabicPeriod"/>
              <a:tabLst>
                <a:tab pos="389890" algn="l"/>
              </a:tabLst>
            </a:pPr>
            <a:r>
              <a:rPr lang="en-IN" sz="2000" b="1" spc="-10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Finalize title, objectives &amp; problem statement</a:t>
            </a:r>
            <a:endParaRPr sz="2000" b="1" dirty="0">
              <a:solidFill>
                <a:schemeClr val="accent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89890" indent="-377190">
              <a:lnSpc>
                <a:spcPct val="100000"/>
              </a:lnSpc>
              <a:spcBef>
                <a:spcPts val="2060"/>
              </a:spcBef>
              <a:buAutoNum type="arabicPeriod"/>
              <a:tabLst>
                <a:tab pos="389890" algn="l"/>
              </a:tabLst>
            </a:pPr>
            <a:r>
              <a:rPr lang="en-IN" sz="2000" b="1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Identify 6+ entities &amp; attributes</a:t>
            </a:r>
          </a:p>
          <a:p>
            <a:pPr marL="389890" indent="-377190">
              <a:lnSpc>
                <a:spcPct val="100000"/>
              </a:lnSpc>
              <a:spcBef>
                <a:spcPts val="2060"/>
              </a:spcBef>
              <a:buAutoNum type="arabicPeriod"/>
              <a:tabLst>
                <a:tab pos="389890" algn="l"/>
              </a:tabLst>
            </a:pPr>
            <a:r>
              <a:rPr lang="en-IN" sz="2000" b="1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Design ER diagram &amp; relationships</a:t>
            </a:r>
          </a:p>
          <a:p>
            <a:pPr marL="389890" indent="-377190">
              <a:lnSpc>
                <a:spcPct val="100000"/>
              </a:lnSpc>
              <a:spcBef>
                <a:spcPts val="2060"/>
              </a:spcBef>
              <a:buAutoNum type="arabicPeriod"/>
              <a:tabLst>
                <a:tab pos="389890" algn="l"/>
              </a:tabLst>
            </a:pPr>
            <a:r>
              <a:rPr lang="en-IN" sz="2000" b="1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Prepare relational database schema</a:t>
            </a:r>
          </a:p>
          <a:p>
            <a:pPr marL="389890" indent="-377190">
              <a:lnSpc>
                <a:spcPct val="100000"/>
              </a:lnSpc>
              <a:spcBef>
                <a:spcPts val="2060"/>
              </a:spcBef>
              <a:buAutoNum type="arabicPeriod"/>
              <a:tabLst>
                <a:tab pos="389890" algn="l"/>
              </a:tabLst>
            </a:pPr>
            <a:r>
              <a:rPr lang="en-IN" sz="2000" b="1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Define Primary &amp; Foreign Keys</a:t>
            </a:r>
          </a:p>
          <a:p>
            <a:pPr marL="389890" indent="-377190">
              <a:lnSpc>
                <a:spcPct val="100000"/>
              </a:lnSpc>
              <a:spcBef>
                <a:spcPts val="2060"/>
              </a:spcBef>
              <a:buAutoNum type="arabicPeriod"/>
              <a:tabLst>
                <a:tab pos="389890" algn="l"/>
              </a:tabLst>
            </a:pPr>
            <a:r>
              <a:rPr lang="en-IN" sz="2000" b="1" spc="50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Create GitHub repo &amp; assign responsibilities</a:t>
            </a:r>
          </a:p>
        </p:txBody>
      </p:sp>
      <p:grpSp>
        <p:nvGrpSpPr>
          <p:cNvPr id="5" name="object 3"/>
          <p:cNvGrpSpPr/>
          <p:nvPr/>
        </p:nvGrpSpPr>
        <p:grpSpPr>
          <a:xfrm>
            <a:off x="2438400" y="33670"/>
            <a:ext cx="5334000" cy="1198311"/>
            <a:chOff x="2648188" y="47148"/>
            <a:chExt cx="5103904" cy="1198311"/>
          </a:xfrm>
        </p:grpSpPr>
        <p:pic>
          <p:nvPicPr>
            <p:cNvPr id="6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648188" y="47148"/>
              <a:ext cx="5103904" cy="1198311"/>
            </a:xfrm>
            <a:prstGeom prst="rect">
              <a:avLst/>
            </a:prstGeom>
          </p:spPr>
        </p:pic>
        <p:pic>
          <p:nvPicPr>
            <p:cNvPr id="7" name="object 5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703195" y="86439"/>
              <a:ext cx="4997767" cy="1092279"/>
            </a:xfrm>
            <a:prstGeom prst="rect">
              <a:avLst/>
            </a:prstGeom>
          </p:spPr>
        </p:pic>
        <p:pic>
          <p:nvPicPr>
            <p:cNvPr id="8" name="object 6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2828925" y="243549"/>
              <a:ext cx="4585268" cy="522565"/>
            </a:xfrm>
            <a:prstGeom prst="rect">
              <a:avLst/>
            </a:prstGeom>
          </p:spPr>
        </p:pic>
        <p:sp>
          <p:nvSpPr>
            <p:cNvPr id="9" name="object 7"/>
            <p:cNvSpPr/>
            <p:nvPr/>
          </p:nvSpPr>
          <p:spPr>
            <a:xfrm>
              <a:off x="2883931" y="282892"/>
              <a:ext cx="4479290" cy="416559"/>
            </a:xfrm>
            <a:custGeom>
              <a:avLst/>
              <a:gdLst/>
              <a:ahLst/>
              <a:cxnLst/>
              <a:rect l="l" t="t" r="r" b="b"/>
              <a:pathLst>
                <a:path w="4479290" h="416559">
                  <a:moveTo>
                    <a:pt x="4394158" y="0"/>
                  </a:moveTo>
                  <a:lnTo>
                    <a:pt x="84972" y="0"/>
                  </a:lnTo>
                  <a:lnTo>
                    <a:pt x="51863" y="5448"/>
                  </a:lnTo>
                  <a:lnTo>
                    <a:pt x="24831" y="20326"/>
                  </a:lnTo>
                  <a:lnTo>
                    <a:pt x="6705" y="42329"/>
                  </a:lnTo>
                  <a:lnTo>
                    <a:pt x="0" y="69361"/>
                  </a:lnTo>
                  <a:lnTo>
                    <a:pt x="0" y="346910"/>
                  </a:lnTo>
                  <a:lnTo>
                    <a:pt x="6705" y="373941"/>
                  </a:lnTo>
                  <a:lnTo>
                    <a:pt x="24831" y="395944"/>
                  </a:lnTo>
                  <a:lnTo>
                    <a:pt x="51863" y="410822"/>
                  </a:lnTo>
                  <a:lnTo>
                    <a:pt x="84972" y="416271"/>
                  </a:lnTo>
                  <a:lnTo>
                    <a:pt x="4394158" y="416271"/>
                  </a:lnTo>
                  <a:lnTo>
                    <a:pt x="4427267" y="410822"/>
                  </a:lnTo>
                  <a:lnTo>
                    <a:pt x="4454299" y="395944"/>
                  </a:lnTo>
                  <a:lnTo>
                    <a:pt x="4472425" y="373941"/>
                  </a:lnTo>
                  <a:lnTo>
                    <a:pt x="4479131" y="346910"/>
                  </a:lnTo>
                  <a:lnTo>
                    <a:pt x="4479131" y="69361"/>
                  </a:lnTo>
                  <a:lnTo>
                    <a:pt x="4472425" y="42329"/>
                  </a:lnTo>
                  <a:lnTo>
                    <a:pt x="4454299" y="20326"/>
                  </a:lnTo>
                  <a:lnTo>
                    <a:pt x="4427267" y="5448"/>
                  </a:lnTo>
                  <a:lnTo>
                    <a:pt x="4394158" y="0"/>
                  </a:lnTo>
                  <a:close/>
                </a:path>
              </a:pathLst>
            </a:custGeom>
            <a:solidFill>
              <a:srgbClr val="FF66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0" name="object 9"/>
          <p:cNvSpPr txBox="1">
            <a:spLocks/>
          </p:cNvSpPr>
          <p:nvPr/>
        </p:nvSpPr>
        <p:spPr>
          <a:xfrm>
            <a:off x="3048000" y="327809"/>
            <a:ext cx="3773462" cy="278281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>
            <a:lvl1pPr>
              <a:defRPr>
                <a:latin typeface="+mj-lt"/>
                <a:ea typeface="+mj-ea"/>
                <a:cs typeface="+mj-cs"/>
              </a:defRPr>
            </a:lvl1pPr>
          </a:lstStyle>
          <a:p>
            <a:pPr marL="12700" algn="ctr">
              <a:spcBef>
                <a:spcPts val="130"/>
              </a:spcBef>
            </a:pPr>
            <a:r>
              <a:rPr lang="en-IN" sz="17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REVIEW – I : DATABASE DESIGN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object 3">
            <a:extLst>
              <a:ext uri="{FF2B5EF4-FFF2-40B4-BE49-F238E27FC236}">
                <a16:creationId xmlns:a16="http://schemas.microsoft.com/office/drawing/2014/main" id="{2B9EFFBF-7726-ED21-BD6C-4021B49E4438}"/>
              </a:ext>
            </a:extLst>
          </p:cNvPr>
          <p:cNvGrpSpPr/>
          <p:nvPr/>
        </p:nvGrpSpPr>
        <p:grpSpPr>
          <a:xfrm>
            <a:off x="2667000" y="85008"/>
            <a:ext cx="5103904" cy="1198311"/>
            <a:chOff x="2648188" y="47148"/>
            <a:chExt cx="5103904" cy="1198311"/>
          </a:xfrm>
        </p:grpSpPr>
        <p:pic>
          <p:nvPicPr>
            <p:cNvPr id="5" name="object 4">
              <a:extLst>
                <a:ext uri="{FF2B5EF4-FFF2-40B4-BE49-F238E27FC236}">
                  <a16:creationId xmlns:a16="http://schemas.microsoft.com/office/drawing/2014/main" id="{5359EAE0-4827-E1C6-F87E-DCB8892B4005}"/>
                </a:ext>
              </a:extLst>
            </p:cNvPr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648188" y="47148"/>
              <a:ext cx="5103904" cy="1198311"/>
            </a:xfrm>
            <a:prstGeom prst="rect">
              <a:avLst/>
            </a:prstGeom>
          </p:spPr>
        </p:pic>
        <p:pic>
          <p:nvPicPr>
            <p:cNvPr id="6" name="object 5">
              <a:extLst>
                <a:ext uri="{FF2B5EF4-FFF2-40B4-BE49-F238E27FC236}">
                  <a16:creationId xmlns:a16="http://schemas.microsoft.com/office/drawing/2014/main" id="{F4EE5AF0-F0A0-481E-EB59-2A06E92AC7E1}"/>
                </a:ext>
              </a:extLst>
            </p:cNvPr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703195" y="86439"/>
              <a:ext cx="4997767" cy="1092279"/>
            </a:xfrm>
            <a:prstGeom prst="rect">
              <a:avLst/>
            </a:prstGeom>
          </p:spPr>
        </p:pic>
        <p:pic>
          <p:nvPicPr>
            <p:cNvPr id="7" name="object 6">
              <a:extLst>
                <a:ext uri="{FF2B5EF4-FFF2-40B4-BE49-F238E27FC236}">
                  <a16:creationId xmlns:a16="http://schemas.microsoft.com/office/drawing/2014/main" id="{5FC53D65-7751-C01A-F243-C971B8A54510}"/>
                </a:ext>
              </a:extLst>
            </p:cNvPr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828925" y="243549"/>
              <a:ext cx="4585268" cy="522565"/>
            </a:xfrm>
            <a:prstGeom prst="rect">
              <a:avLst/>
            </a:prstGeom>
          </p:spPr>
        </p:pic>
        <p:sp>
          <p:nvSpPr>
            <p:cNvPr id="8" name="object 7">
              <a:extLst>
                <a:ext uri="{FF2B5EF4-FFF2-40B4-BE49-F238E27FC236}">
                  <a16:creationId xmlns:a16="http://schemas.microsoft.com/office/drawing/2014/main" id="{92DCFA7B-7796-4FFE-22C4-D8D11B1128AC}"/>
                </a:ext>
              </a:extLst>
            </p:cNvPr>
            <p:cNvSpPr/>
            <p:nvPr/>
          </p:nvSpPr>
          <p:spPr>
            <a:xfrm>
              <a:off x="2883931" y="282892"/>
              <a:ext cx="4479290" cy="416559"/>
            </a:xfrm>
            <a:custGeom>
              <a:avLst/>
              <a:gdLst/>
              <a:ahLst/>
              <a:cxnLst/>
              <a:rect l="l" t="t" r="r" b="b"/>
              <a:pathLst>
                <a:path w="4479290" h="416559">
                  <a:moveTo>
                    <a:pt x="4394158" y="0"/>
                  </a:moveTo>
                  <a:lnTo>
                    <a:pt x="84972" y="0"/>
                  </a:lnTo>
                  <a:lnTo>
                    <a:pt x="51863" y="5448"/>
                  </a:lnTo>
                  <a:lnTo>
                    <a:pt x="24831" y="20326"/>
                  </a:lnTo>
                  <a:lnTo>
                    <a:pt x="6705" y="42329"/>
                  </a:lnTo>
                  <a:lnTo>
                    <a:pt x="0" y="69361"/>
                  </a:lnTo>
                  <a:lnTo>
                    <a:pt x="0" y="346910"/>
                  </a:lnTo>
                  <a:lnTo>
                    <a:pt x="6705" y="373941"/>
                  </a:lnTo>
                  <a:lnTo>
                    <a:pt x="24831" y="395944"/>
                  </a:lnTo>
                  <a:lnTo>
                    <a:pt x="51863" y="410822"/>
                  </a:lnTo>
                  <a:lnTo>
                    <a:pt x="84972" y="416271"/>
                  </a:lnTo>
                  <a:lnTo>
                    <a:pt x="4394158" y="416271"/>
                  </a:lnTo>
                  <a:lnTo>
                    <a:pt x="4427267" y="410822"/>
                  </a:lnTo>
                  <a:lnTo>
                    <a:pt x="4454299" y="395944"/>
                  </a:lnTo>
                  <a:lnTo>
                    <a:pt x="4472425" y="373941"/>
                  </a:lnTo>
                  <a:lnTo>
                    <a:pt x="4479131" y="346910"/>
                  </a:lnTo>
                  <a:lnTo>
                    <a:pt x="4479131" y="69361"/>
                  </a:lnTo>
                  <a:lnTo>
                    <a:pt x="4472425" y="42329"/>
                  </a:lnTo>
                  <a:lnTo>
                    <a:pt x="4454299" y="20326"/>
                  </a:lnTo>
                  <a:lnTo>
                    <a:pt x="4427267" y="5448"/>
                  </a:lnTo>
                  <a:lnTo>
                    <a:pt x="4394158" y="0"/>
                  </a:lnTo>
                  <a:close/>
                </a:path>
              </a:pathLst>
            </a:custGeom>
            <a:solidFill>
              <a:srgbClr val="FF6600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</p:grpSp>
      <p:sp>
        <p:nvSpPr>
          <p:cNvPr id="15" name="TextBox 14">
            <a:extLst>
              <a:ext uri="{FF2B5EF4-FFF2-40B4-BE49-F238E27FC236}">
                <a16:creationId xmlns:a16="http://schemas.microsoft.com/office/drawing/2014/main" id="{D80E80D0-6F89-D49C-8F71-3B704975761E}"/>
              </a:ext>
            </a:extLst>
          </p:cNvPr>
          <p:cNvSpPr txBox="1"/>
          <p:nvPr/>
        </p:nvSpPr>
        <p:spPr>
          <a:xfrm>
            <a:off x="4535792" y="334033"/>
            <a:ext cx="4335952" cy="3924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95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DESIGN</a:t>
            </a:r>
          </a:p>
        </p:txBody>
      </p:sp>
      <p:pic>
        <p:nvPicPr>
          <p:cNvPr id="17" name="object 3">
            <a:extLst>
              <a:ext uri="{FF2B5EF4-FFF2-40B4-BE49-F238E27FC236}">
                <a16:creationId xmlns:a16="http://schemas.microsoft.com/office/drawing/2014/main" id="{EED75953-77B8-EB79-983F-0DFB76BE35E9}"/>
              </a:ext>
            </a:extLst>
          </p:cNvPr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290750" y="204311"/>
            <a:ext cx="1163002" cy="424338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7123C703-1AD9-4788-CD0E-DEA5B9163D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93559" y="961084"/>
            <a:ext cx="7543800" cy="353943"/>
          </a:xfrm>
        </p:spPr>
        <p:txBody>
          <a:bodyPr/>
          <a:lstStyle/>
          <a:p>
            <a:r>
              <a:rPr lang="en-IN" dirty="0"/>
              <a:t>UNIVERSITY ACADEMIC MANAGEMENT SYSTEM </a:t>
            </a:r>
          </a:p>
        </p:txBody>
      </p:sp>
      <p:sp>
        <p:nvSpPr>
          <p:cNvPr id="13" name="Shape 9">
            <a:extLst>
              <a:ext uri="{FF2B5EF4-FFF2-40B4-BE49-F238E27FC236}">
                <a16:creationId xmlns:a16="http://schemas.microsoft.com/office/drawing/2014/main" id="{8714D664-99FB-C40C-C298-6A64E7644514}"/>
              </a:ext>
            </a:extLst>
          </p:cNvPr>
          <p:cNvSpPr/>
          <p:nvPr/>
        </p:nvSpPr>
        <p:spPr>
          <a:xfrm>
            <a:off x="306325" y="1738458"/>
            <a:ext cx="4572000" cy="2681142"/>
          </a:xfrm>
          <a:prstGeom prst="roundRect">
            <a:avLst>
              <a:gd name="adj" fmla="val 1649"/>
            </a:avLst>
          </a:prstGeom>
          <a:solidFill>
            <a:srgbClr val="F3F6FB"/>
          </a:solidFill>
          <a:ln w="12700">
            <a:solidFill>
              <a:srgbClr val="DCE3EE"/>
            </a:solidFill>
            <a:prstDash val="solid"/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>
              <a:lnSpc>
                <a:spcPts val="1700"/>
              </a:lnSpc>
              <a:buSzPct val="100000"/>
              <a:buChar char="▪"/>
            </a:pPr>
            <a:endParaRPr lang="en-US" sz="1400" dirty="0">
              <a:solidFill>
                <a:srgbClr val="3E4A5A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342900" indent="-342900">
              <a:lnSpc>
                <a:spcPts val="1700"/>
              </a:lnSpc>
              <a:buSzPct val="100000"/>
              <a:buChar char="▪"/>
            </a:pPr>
            <a:endParaRPr lang="en-US" sz="1400" dirty="0">
              <a:solidFill>
                <a:srgbClr val="3E4A5A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342900" indent="-342900">
              <a:lnSpc>
                <a:spcPts val="1700"/>
              </a:lnSpc>
              <a:buSzPct val="100000"/>
              <a:buChar char="▪"/>
            </a:pPr>
            <a:r>
              <a:rPr lang="en-US" sz="1400" dirty="0">
                <a:solidFill>
                  <a:srgbClr val="3E4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Academic records maintained manually in files and registers.</a:t>
            </a:r>
            <a:endParaRPr lang="en-US" sz="1400" dirty="0"/>
          </a:p>
          <a:p>
            <a:pPr marL="342900" indent="-342900">
              <a:lnSpc>
                <a:spcPts val="1700"/>
              </a:lnSpc>
              <a:buSzPct val="100000"/>
              <a:buChar char="▪"/>
            </a:pPr>
            <a:r>
              <a:rPr lang="en-US" sz="1400" dirty="0">
                <a:solidFill>
                  <a:srgbClr val="3E4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Disconnected records across departments and programs.</a:t>
            </a:r>
            <a:endParaRPr lang="en-US" sz="1400" dirty="0"/>
          </a:p>
          <a:p>
            <a:pPr marL="342900" indent="-342900">
              <a:lnSpc>
                <a:spcPts val="1700"/>
              </a:lnSpc>
              <a:buSzPct val="100000"/>
              <a:buChar char="▪"/>
            </a:pPr>
            <a:r>
              <a:rPr lang="en-US" sz="1400" dirty="0">
                <a:solidFill>
                  <a:srgbClr val="3E4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redundancy — the same details stored repeatedly</a:t>
            </a:r>
            <a:endParaRPr lang="en-US" sz="1400" dirty="0"/>
          </a:p>
          <a:p>
            <a:pPr marL="342900" indent="-342900">
              <a:lnSpc>
                <a:spcPts val="1700"/>
              </a:lnSpc>
              <a:buSzPct val="100000"/>
              <a:buChar char="▪"/>
            </a:pPr>
            <a:r>
              <a:rPr lang="en-US" sz="1400" dirty="0">
                <a:solidFill>
                  <a:srgbClr val="3E4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inconsistency between different registers.</a:t>
            </a:r>
            <a:endParaRPr lang="en-US" sz="1400" dirty="0"/>
          </a:p>
          <a:p>
            <a:pPr marL="342900" indent="-342900">
              <a:lnSpc>
                <a:spcPts val="1700"/>
              </a:lnSpc>
              <a:buSzPct val="100000"/>
              <a:buChar char="▪"/>
            </a:pPr>
            <a:r>
              <a:rPr lang="en-US" sz="1400" dirty="0">
                <a:solidFill>
                  <a:srgbClr val="3E4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Difficulty in tracking students and their courses.</a:t>
            </a:r>
            <a:endParaRPr lang="en-US" sz="1400" dirty="0"/>
          </a:p>
          <a:p>
            <a:pPr marL="342900" indent="-342900">
              <a:lnSpc>
                <a:spcPts val="1700"/>
              </a:lnSpc>
              <a:buSzPct val="100000"/>
              <a:buChar char="▪"/>
            </a:pPr>
            <a:r>
              <a:rPr lang="en-US" sz="1400" dirty="0">
                <a:solidFill>
                  <a:srgbClr val="3E4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Difficulty in managing relationships between records.</a:t>
            </a:r>
            <a:endParaRPr lang="en-US" sz="1400" dirty="0"/>
          </a:p>
          <a:p>
            <a:pPr marL="342900" indent="-342900">
              <a:lnSpc>
                <a:spcPts val="1700"/>
              </a:lnSpc>
              <a:buSzPct val="100000"/>
              <a:buChar char="▪"/>
            </a:pPr>
            <a:r>
              <a:rPr lang="en-US" sz="1400" dirty="0">
                <a:solidFill>
                  <a:srgbClr val="3E4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Slow and error-prone retrieval of information.</a:t>
            </a:r>
            <a:endParaRPr lang="en-US" sz="1400" dirty="0"/>
          </a:p>
        </p:txBody>
      </p:sp>
      <p:sp>
        <p:nvSpPr>
          <p:cNvPr id="14" name="Shape 10">
            <a:extLst>
              <a:ext uri="{FF2B5EF4-FFF2-40B4-BE49-F238E27FC236}">
                <a16:creationId xmlns:a16="http://schemas.microsoft.com/office/drawing/2014/main" id="{54620BDF-C758-5BC1-E3B4-1990A8E9F251}"/>
              </a:ext>
            </a:extLst>
          </p:cNvPr>
          <p:cNvSpPr/>
          <p:nvPr/>
        </p:nvSpPr>
        <p:spPr>
          <a:xfrm>
            <a:off x="306325" y="1549013"/>
            <a:ext cx="4572000" cy="411480"/>
          </a:xfrm>
          <a:prstGeom prst="roundRect">
            <a:avLst>
              <a:gd name="adj" fmla="val 17778"/>
            </a:avLst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b="1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Problems in the Manual System</a:t>
            </a:r>
            <a:endParaRPr lang="en-US" dirty="0"/>
          </a:p>
        </p:txBody>
      </p:sp>
      <p:sp>
        <p:nvSpPr>
          <p:cNvPr id="16" name="Shape 9">
            <a:extLst>
              <a:ext uri="{FF2B5EF4-FFF2-40B4-BE49-F238E27FC236}">
                <a16:creationId xmlns:a16="http://schemas.microsoft.com/office/drawing/2014/main" id="{CBEBFEA4-DD00-9887-D26D-CA6ACACE1F5C}"/>
              </a:ext>
            </a:extLst>
          </p:cNvPr>
          <p:cNvSpPr/>
          <p:nvPr/>
        </p:nvSpPr>
        <p:spPr>
          <a:xfrm>
            <a:off x="290750" y="4733409"/>
            <a:ext cx="4572000" cy="2914691"/>
          </a:xfrm>
          <a:prstGeom prst="roundRect">
            <a:avLst>
              <a:gd name="adj" fmla="val 1649"/>
            </a:avLst>
          </a:prstGeom>
          <a:solidFill>
            <a:srgbClr val="F3F6FB"/>
          </a:solidFill>
          <a:ln w="12700">
            <a:solidFill>
              <a:srgbClr val="DCE3EE"/>
            </a:solidFill>
            <a:prstDash val="solid"/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>
              <a:lnSpc>
                <a:spcPts val="1700"/>
              </a:lnSpc>
              <a:buSzPct val="100000"/>
              <a:buChar char="▪"/>
            </a:pPr>
            <a:endParaRPr lang="en-US" sz="1400" dirty="0">
              <a:solidFill>
                <a:srgbClr val="3E4A5A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342900" indent="-342900">
              <a:lnSpc>
                <a:spcPts val="1700"/>
              </a:lnSpc>
              <a:buSzPct val="100000"/>
              <a:buChar char="▪"/>
            </a:pPr>
            <a:endParaRPr lang="en-US" sz="1400" dirty="0">
              <a:solidFill>
                <a:srgbClr val="3E4A5A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342900" indent="-342900">
              <a:lnSpc>
                <a:spcPts val="1700"/>
              </a:lnSpc>
              <a:buSzPct val="100000"/>
              <a:buChar char="▪"/>
            </a:pPr>
            <a:r>
              <a:rPr lang="en-US" sz="1400" dirty="0">
                <a:solidFill>
                  <a:srgbClr val="3E4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centralized relational database stores all academic data in one place.</a:t>
            </a:r>
            <a:endParaRPr lang="en-US" sz="1400" dirty="0"/>
          </a:p>
          <a:p>
            <a:pPr marL="342900" indent="-342900">
              <a:lnSpc>
                <a:spcPts val="1700"/>
              </a:lnSpc>
              <a:buSzPct val="100000"/>
              <a:buChar char="▪"/>
            </a:pPr>
            <a:r>
              <a:rPr lang="en-US" sz="1400" dirty="0">
                <a:solidFill>
                  <a:srgbClr val="3E4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Separate tables for Student, Program, Department, Faculty, Course, Semester and Enrollment.</a:t>
            </a:r>
            <a:endParaRPr lang="en-US" sz="1400" dirty="0"/>
          </a:p>
          <a:p>
            <a:pPr marL="342900" indent="-342900">
              <a:lnSpc>
                <a:spcPts val="1700"/>
              </a:lnSpc>
              <a:buSzPct val="100000"/>
              <a:buChar char="▪"/>
            </a:pPr>
            <a:r>
              <a:rPr lang="en-US" sz="1400" dirty="0">
                <a:solidFill>
                  <a:srgbClr val="3E4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 keys uniquely identify every record and remove duplication.</a:t>
            </a:r>
            <a:endParaRPr lang="en-US" sz="1400" dirty="0"/>
          </a:p>
          <a:p>
            <a:pPr marL="342900" indent="-342900">
              <a:lnSpc>
                <a:spcPts val="1700"/>
              </a:lnSpc>
              <a:buSzPct val="100000"/>
              <a:buChar char="▪"/>
            </a:pPr>
            <a:r>
              <a:rPr lang="en-US" sz="1400" dirty="0">
                <a:solidFill>
                  <a:srgbClr val="3E4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Foreign keys link related records and preserve referential integrity.</a:t>
            </a:r>
            <a:endParaRPr lang="en-US" sz="1400" dirty="0"/>
          </a:p>
          <a:p>
            <a:pPr marL="342900" indent="-342900">
              <a:lnSpc>
                <a:spcPts val="1700"/>
              </a:lnSpc>
              <a:buSzPct val="100000"/>
              <a:buChar char="▪"/>
            </a:pPr>
            <a:r>
              <a:rPr lang="en-US" sz="1400" dirty="0">
                <a:solidFill>
                  <a:srgbClr val="3E4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 course enrollments are tracked semester-wise with grades.</a:t>
            </a:r>
            <a:endParaRPr lang="en-US" sz="1400" dirty="0"/>
          </a:p>
        </p:txBody>
      </p:sp>
      <p:sp>
        <p:nvSpPr>
          <p:cNvPr id="18" name="Shape 10">
            <a:extLst>
              <a:ext uri="{FF2B5EF4-FFF2-40B4-BE49-F238E27FC236}">
                <a16:creationId xmlns:a16="http://schemas.microsoft.com/office/drawing/2014/main" id="{04518AAB-7326-7B4C-320C-28BE16B35D21}"/>
              </a:ext>
            </a:extLst>
          </p:cNvPr>
          <p:cNvSpPr/>
          <p:nvPr/>
        </p:nvSpPr>
        <p:spPr>
          <a:xfrm>
            <a:off x="306325" y="4573717"/>
            <a:ext cx="4572000" cy="411480"/>
          </a:xfrm>
          <a:prstGeom prst="roundRect">
            <a:avLst>
              <a:gd name="adj" fmla="val 17778"/>
            </a:avLst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b="1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Proposed Solution</a:t>
            </a:r>
            <a:endParaRPr lang="en-US" dirty="0"/>
          </a:p>
        </p:txBody>
      </p:sp>
      <p:sp>
        <p:nvSpPr>
          <p:cNvPr id="19" name="Shape 13">
            <a:extLst>
              <a:ext uri="{FF2B5EF4-FFF2-40B4-BE49-F238E27FC236}">
                <a16:creationId xmlns:a16="http://schemas.microsoft.com/office/drawing/2014/main" id="{66296415-932C-96F8-CEA8-A041F278456B}"/>
              </a:ext>
            </a:extLst>
          </p:cNvPr>
          <p:cNvSpPr/>
          <p:nvPr/>
        </p:nvSpPr>
        <p:spPr>
          <a:xfrm>
            <a:off x="5029200" y="2176714"/>
            <a:ext cx="4809967" cy="861029"/>
          </a:xfrm>
          <a:prstGeom prst="roundRect">
            <a:avLst>
              <a:gd name="adj" fmla="val 1649"/>
            </a:avLst>
          </a:prstGeom>
          <a:solidFill>
            <a:srgbClr val="FDF1E6"/>
          </a:solidFill>
          <a:ln w="12700">
            <a:solidFill>
              <a:srgbClr val="F4DCC5"/>
            </a:solidFill>
            <a:prstDash val="solid"/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ts val="2000"/>
              </a:lnSpc>
            </a:pPr>
            <a:r>
              <a:rPr lang="en-US" sz="1600" dirty="0">
                <a:solidFill>
                  <a:schemeClr val="accent6">
                    <a:lumMod val="7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         To centralize all university academic </a:t>
            </a:r>
          </a:p>
          <a:p>
            <a:pPr>
              <a:lnSpc>
                <a:spcPts val="2000"/>
              </a:lnSpc>
            </a:pPr>
            <a:r>
              <a:rPr lang="en-US" sz="1600" dirty="0">
                <a:solidFill>
                  <a:schemeClr val="accent6">
                    <a:lumMod val="7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         information in a single relational database.</a:t>
            </a:r>
            <a:endParaRPr lang="en-US" sz="1600" dirty="0">
              <a:solidFill>
                <a:schemeClr val="accent6">
                  <a:lumMod val="75000"/>
                </a:schemeClr>
              </a:solidFill>
            </a:endParaRPr>
          </a:p>
        </p:txBody>
      </p:sp>
      <p:sp>
        <p:nvSpPr>
          <p:cNvPr id="20" name="Shape 14">
            <a:extLst>
              <a:ext uri="{FF2B5EF4-FFF2-40B4-BE49-F238E27FC236}">
                <a16:creationId xmlns:a16="http://schemas.microsoft.com/office/drawing/2014/main" id="{5A514AE8-DA4B-C2D9-BA11-799D52842966}"/>
              </a:ext>
            </a:extLst>
          </p:cNvPr>
          <p:cNvSpPr/>
          <p:nvPr/>
        </p:nvSpPr>
        <p:spPr>
          <a:xfrm>
            <a:off x="5096033" y="1563133"/>
            <a:ext cx="4656042" cy="411480"/>
          </a:xfrm>
          <a:prstGeom prst="roundRect">
            <a:avLst>
              <a:gd name="adj" fmla="val 17778"/>
            </a:avLst>
          </a:prstGeom>
          <a:solidFill>
            <a:srgbClr val="E87722"/>
          </a:solidFill>
          <a:ln w="12700">
            <a:solidFill>
              <a:srgbClr val="E87722"/>
            </a:solidFill>
            <a:prstDash val="solid"/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b="1" dirty="0">
                <a:solidFill>
                  <a:srgbClr val="FFFFFF"/>
                </a:solidFill>
                <a:latin typeface="Georgia" pitchFamily="34" charset="0"/>
              </a:rPr>
              <a:t>Objectives</a:t>
            </a:r>
            <a:endParaRPr lang="en-US" dirty="0"/>
          </a:p>
        </p:txBody>
      </p:sp>
      <p:sp>
        <p:nvSpPr>
          <p:cNvPr id="21" name="Shape 13">
            <a:extLst>
              <a:ext uri="{FF2B5EF4-FFF2-40B4-BE49-F238E27FC236}">
                <a16:creationId xmlns:a16="http://schemas.microsoft.com/office/drawing/2014/main" id="{5EF455EC-3CD2-32B6-859D-F6E624CD8927}"/>
              </a:ext>
            </a:extLst>
          </p:cNvPr>
          <p:cNvSpPr/>
          <p:nvPr/>
        </p:nvSpPr>
        <p:spPr>
          <a:xfrm>
            <a:off x="8628428" y="128765"/>
            <a:ext cx="1231833" cy="1168426"/>
          </a:xfrm>
          <a:prstGeom prst="roundRect">
            <a:avLst>
              <a:gd name="adj" fmla="val 2899"/>
            </a:avLst>
          </a:prstGeom>
          <a:solidFill>
            <a:srgbClr val="FDF1E6"/>
          </a:solidFill>
          <a:ln w="12700">
            <a:solidFill>
              <a:srgbClr val="F4DCC5"/>
            </a:solidFill>
            <a:prstDash val="solid"/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IN"/>
          </a:p>
        </p:txBody>
      </p:sp>
      <p:pic>
        <p:nvPicPr>
          <p:cNvPr id="22" name="Image 0">
            <a:extLst>
              <a:ext uri="{FF2B5EF4-FFF2-40B4-BE49-F238E27FC236}">
                <a16:creationId xmlns:a16="http://schemas.microsoft.com/office/drawing/2014/main" id="{0836102F-E899-EF70-7365-7962A98EC38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628428" y="99841"/>
            <a:ext cx="1265585" cy="1265585"/>
          </a:xfrm>
          <a:prstGeom prst="rect">
            <a:avLst/>
          </a:prstGeom>
        </p:spPr>
      </p:pic>
      <p:sp>
        <p:nvSpPr>
          <p:cNvPr id="23" name="Shape 9">
            <a:extLst>
              <a:ext uri="{FF2B5EF4-FFF2-40B4-BE49-F238E27FC236}">
                <a16:creationId xmlns:a16="http://schemas.microsoft.com/office/drawing/2014/main" id="{A52DA846-9E23-9BCE-A58D-4E5C1421B4E2}"/>
              </a:ext>
            </a:extLst>
          </p:cNvPr>
          <p:cNvSpPr/>
          <p:nvPr/>
        </p:nvSpPr>
        <p:spPr>
          <a:xfrm>
            <a:off x="5029200" y="3239844"/>
            <a:ext cx="4798890" cy="871416"/>
          </a:xfrm>
          <a:prstGeom prst="roundRect">
            <a:avLst>
              <a:gd name="adj" fmla="val 1649"/>
            </a:avLst>
          </a:prstGeom>
          <a:solidFill>
            <a:srgbClr val="F3F6FB"/>
          </a:solidFill>
          <a:ln w="12700">
            <a:solidFill>
              <a:srgbClr val="DCE3EE"/>
            </a:solidFill>
            <a:prstDash val="solid"/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ts val="2000"/>
              </a:lnSpc>
            </a:pPr>
            <a:r>
              <a:rPr lang="en-US" sz="1600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          To manage students, programs, departments, </a:t>
            </a:r>
          </a:p>
          <a:p>
            <a:pPr>
              <a:lnSpc>
                <a:spcPts val="2000"/>
              </a:lnSpc>
            </a:pPr>
            <a:r>
              <a:rPr lang="en-US" sz="1600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          faculty and courses efficiently.</a:t>
            </a:r>
            <a:endParaRPr lang="en-US" sz="1600" dirty="0"/>
          </a:p>
        </p:txBody>
      </p:sp>
      <p:sp>
        <p:nvSpPr>
          <p:cNvPr id="26" name="Shape 13">
            <a:extLst>
              <a:ext uri="{FF2B5EF4-FFF2-40B4-BE49-F238E27FC236}">
                <a16:creationId xmlns:a16="http://schemas.microsoft.com/office/drawing/2014/main" id="{80B8FD96-6888-2A59-17B9-C5E2B28BBD73}"/>
              </a:ext>
            </a:extLst>
          </p:cNvPr>
          <p:cNvSpPr/>
          <p:nvPr/>
        </p:nvSpPr>
        <p:spPr>
          <a:xfrm>
            <a:off x="5050220" y="4348943"/>
            <a:ext cx="4809967" cy="861029"/>
          </a:xfrm>
          <a:prstGeom prst="roundRect">
            <a:avLst>
              <a:gd name="adj" fmla="val 1649"/>
            </a:avLst>
          </a:prstGeom>
          <a:solidFill>
            <a:srgbClr val="FDF1E6"/>
          </a:solidFill>
          <a:ln w="12700">
            <a:solidFill>
              <a:srgbClr val="F4DCC5"/>
            </a:solidFill>
            <a:prstDash val="solid"/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ts val="2000"/>
              </a:lnSpc>
            </a:pPr>
            <a:r>
              <a:rPr lang="en-US" sz="1600" dirty="0">
                <a:solidFill>
                  <a:schemeClr val="accent6">
                    <a:lumMod val="7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           To track student course enrollments </a:t>
            </a:r>
          </a:p>
          <a:p>
            <a:pPr>
              <a:lnSpc>
                <a:spcPts val="2000"/>
              </a:lnSpc>
            </a:pPr>
            <a:r>
              <a:rPr lang="en-US" sz="1600" dirty="0">
                <a:solidFill>
                  <a:schemeClr val="accent6">
                    <a:lumMod val="7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            semester-wise along with grades.</a:t>
            </a:r>
            <a:endParaRPr lang="en-US" sz="1600" dirty="0">
              <a:solidFill>
                <a:schemeClr val="accent6">
                  <a:lumMod val="75000"/>
                </a:schemeClr>
              </a:solidFill>
            </a:endParaRPr>
          </a:p>
        </p:txBody>
      </p:sp>
      <p:sp>
        <p:nvSpPr>
          <p:cNvPr id="27" name="Shape 9">
            <a:extLst>
              <a:ext uri="{FF2B5EF4-FFF2-40B4-BE49-F238E27FC236}">
                <a16:creationId xmlns:a16="http://schemas.microsoft.com/office/drawing/2014/main" id="{1BEDCC08-FE98-CC80-27D1-5AD1FCFFAE32}"/>
              </a:ext>
            </a:extLst>
          </p:cNvPr>
          <p:cNvSpPr/>
          <p:nvPr/>
        </p:nvSpPr>
        <p:spPr>
          <a:xfrm>
            <a:off x="5021179" y="5477392"/>
            <a:ext cx="4798890" cy="871416"/>
          </a:xfrm>
          <a:prstGeom prst="roundRect">
            <a:avLst>
              <a:gd name="adj" fmla="val 1649"/>
            </a:avLst>
          </a:prstGeom>
          <a:solidFill>
            <a:srgbClr val="F3F6FB"/>
          </a:solidFill>
          <a:ln w="12700">
            <a:solidFill>
              <a:srgbClr val="DCE3EE"/>
            </a:solidFill>
            <a:prstDash val="solid"/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ts val="2000"/>
              </a:lnSpc>
            </a:pPr>
            <a:r>
              <a:rPr lang="en-US" sz="1600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            To establish relationships between entities      </a:t>
            </a:r>
          </a:p>
          <a:p>
            <a:pPr>
              <a:lnSpc>
                <a:spcPts val="2000"/>
              </a:lnSpc>
            </a:pPr>
            <a:r>
              <a:rPr lang="en-US" sz="1600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            using primary keys and foreign keys.</a:t>
            </a:r>
            <a:endParaRPr lang="en-US" sz="1600" dirty="0"/>
          </a:p>
        </p:txBody>
      </p:sp>
      <p:sp>
        <p:nvSpPr>
          <p:cNvPr id="29" name="Shape 13">
            <a:extLst>
              <a:ext uri="{FF2B5EF4-FFF2-40B4-BE49-F238E27FC236}">
                <a16:creationId xmlns:a16="http://schemas.microsoft.com/office/drawing/2014/main" id="{E295CB50-2F20-AC0D-3101-094B14B9BED0}"/>
              </a:ext>
            </a:extLst>
          </p:cNvPr>
          <p:cNvSpPr/>
          <p:nvPr/>
        </p:nvSpPr>
        <p:spPr>
          <a:xfrm>
            <a:off x="5010102" y="6616228"/>
            <a:ext cx="4809967" cy="861029"/>
          </a:xfrm>
          <a:prstGeom prst="roundRect">
            <a:avLst>
              <a:gd name="adj" fmla="val 1649"/>
            </a:avLst>
          </a:prstGeom>
          <a:solidFill>
            <a:srgbClr val="FDF1E6"/>
          </a:solidFill>
          <a:ln w="12700">
            <a:solidFill>
              <a:srgbClr val="F4DCC5"/>
            </a:solidFill>
            <a:prstDash val="solid"/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ts val="2000"/>
              </a:lnSpc>
            </a:pPr>
            <a:r>
              <a:rPr lang="en-US" sz="1600" dirty="0">
                <a:solidFill>
                  <a:schemeClr val="accent6">
                    <a:lumMod val="7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           To improve data consistency, integrity and </a:t>
            </a:r>
          </a:p>
          <a:p>
            <a:pPr>
              <a:lnSpc>
                <a:spcPts val="2000"/>
              </a:lnSpc>
            </a:pPr>
            <a:r>
              <a:rPr lang="en-US" sz="1600" dirty="0">
                <a:solidFill>
                  <a:schemeClr val="accent6">
                    <a:lumMod val="7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           speed of information retrieval.</a:t>
            </a:r>
            <a:endParaRPr lang="en-US" sz="1600" dirty="0">
              <a:solidFill>
                <a:schemeClr val="accent6">
                  <a:lumMod val="75000"/>
                </a:schemeClr>
              </a:solidFill>
            </a:endParaRPr>
          </a:p>
        </p:txBody>
      </p:sp>
      <p:sp>
        <p:nvSpPr>
          <p:cNvPr id="30" name="Shape 14">
            <a:extLst>
              <a:ext uri="{FF2B5EF4-FFF2-40B4-BE49-F238E27FC236}">
                <a16:creationId xmlns:a16="http://schemas.microsoft.com/office/drawing/2014/main" id="{5A69CA69-1A04-E62A-74F7-53C72123B0CC}"/>
              </a:ext>
            </a:extLst>
          </p:cNvPr>
          <p:cNvSpPr/>
          <p:nvPr/>
        </p:nvSpPr>
        <p:spPr>
          <a:xfrm>
            <a:off x="5107184" y="2315834"/>
            <a:ext cx="548640" cy="548640"/>
          </a:xfrm>
          <a:prstGeom prst="ellipse">
            <a:avLst/>
          </a:prstGeom>
          <a:solidFill>
            <a:srgbClr val="E87722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b="1" dirty="0">
                <a:solidFill>
                  <a:srgbClr val="FFFFFF"/>
                </a:solidFill>
                <a:latin typeface="Georgia" pitchFamily="34" charset="0"/>
              </a:rPr>
              <a:t> </a:t>
            </a:r>
            <a:r>
              <a:rPr lang="en-US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IN" dirty="0"/>
          </a:p>
        </p:txBody>
      </p:sp>
      <p:sp>
        <p:nvSpPr>
          <p:cNvPr id="31" name="Shape 14">
            <a:extLst>
              <a:ext uri="{FF2B5EF4-FFF2-40B4-BE49-F238E27FC236}">
                <a16:creationId xmlns:a16="http://schemas.microsoft.com/office/drawing/2014/main" id="{A2C46FF3-F8F8-3B7D-22A8-EE2A7E37D845}"/>
              </a:ext>
            </a:extLst>
          </p:cNvPr>
          <p:cNvSpPr/>
          <p:nvPr/>
        </p:nvSpPr>
        <p:spPr>
          <a:xfrm>
            <a:off x="5147805" y="4467596"/>
            <a:ext cx="548640" cy="548640"/>
          </a:xfrm>
          <a:prstGeom prst="ellipse">
            <a:avLst/>
          </a:prstGeom>
          <a:solidFill>
            <a:srgbClr val="E87722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b="1" dirty="0">
                <a:solidFill>
                  <a:srgbClr val="FFFFFF"/>
                </a:solidFill>
                <a:latin typeface="Georgia" pitchFamily="34" charset="0"/>
              </a:rPr>
              <a:t> 3</a:t>
            </a:r>
            <a:endParaRPr lang="en-IN" dirty="0"/>
          </a:p>
        </p:txBody>
      </p:sp>
      <p:sp>
        <p:nvSpPr>
          <p:cNvPr id="32" name="Shape 14">
            <a:extLst>
              <a:ext uri="{FF2B5EF4-FFF2-40B4-BE49-F238E27FC236}">
                <a16:creationId xmlns:a16="http://schemas.microsoft.com/office/drawing/2014/main" id="{92A9797B-9C64-1212-C28C-611EF3E4EBBA}"/>
              </a:ext>
            </a:extLst>
          </p:cNvPr>
          <p:cNvSpPr/>
          <p:nvPr/>
        </p:nvSpPr>
        <p:spPr>
          <a:xfrm>
            <a:off x="5151522" y="6727174"/>
            <a:ext cx="548640" cy="548640"/>
          </a:xfrm>
          <a:prstGeom prst="ellipse">
            <a:avLst/>
          </a:prstGeom>
          <a:solidFill>
            <a:srgbClr val="E87722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b="1" dirty="0">
                <a:solidFill>
                  <a:srgbClr val="FFFFFF"/>
                </a:solidFill>
                <a:latin typeface="Georgia" pitchFamily="34" charset="0"/>
              </a:rPr>
              <a:t>5</a:t>
            </a:r>
            <a:endParaRPr lang="en-IN" dirty="0"/>
          </a:p>
        </p:txBody>
      </p:sp>
      <p:sp>
        <p:nvSpPr>
          <p:cNvPr id="33" name="Shape 18">
            <a:extLst>
              <a:ext uri="{FF2B5EF4-FFF2-40B4-BE49-F238E27FC236}">
                <a16:creationId xmlns:a16="http://schemas.microsoft.com/office/drawing/2014/main" id="{3A9AEDC8-4FB5-528B-D020-51465351EAED}"/>
              </a:ext>
            </a:extLst>
          </p:cNvPr>
          <p:cNvSpPr/>
          <p:nvPr/>
        </p:nvSpPr>
        <p:spPr>
          <a:xfrm>
            <a:off x="5107184" y="3391557"/>
            <a:ext cx="548640" cy="548640"/>
          </a:xfrm>
          <a:prstGeom prst="ellipse">
            <a:avLst/>
          </a:prstGeom>
          <a:solidFill>
            <a:srgbClr val="1B3A6B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b="1" dirty="0">
                <a:solidFill>
                  <a:srgbClr val="FFFFFF"/>
                </a:solidFill>
                <a:latin typeface="Georgia" pitchFamily="34" charset="0"/>
              </a:rPr>
              <a:t> 2</a:t>
            </a:r>
            <a:endParaRPr lang="en-IN" dirty="0"/>
          </a:p>
        </p:txBody>
      </p:sp>
      <p:sp>
        <p:nvSpPr>
          <p:cNvPr id="34" name="Shape 18">
            <a:extLst>
              <a:ext uri="{FF2B5EF4-FFF2-40B4-BE49-F238E27FC236}">
                <a16:creationId xmlns:a16="http://schemas.microsoft.com/office/drawing/2014/main" id="{788A4943-FF16-A0A6-F107-2A632F00874B}"/>
              </a:ext>
            </a:extLst>
          </p:cNvPr>
          <p:cNvSpPr/>
          <p:nvPr/>
        </p:nvSpPr>
        <p:spPr>
          <a:xfrm>
            <a:off x="5147805" y="5622142"/>
            <a:ext cx="548640" cy="548640"/>
          </a:xfrm>
          <a:prstGeom prst="ellipse">
            <a:avLst/>
          </a:prstGeom>
          <a:solidFill>
            <a:srgbClr val="1B3A6B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b="1" dirty="0">
                <a:solidFill>
                  <a:srgbClr val="FFFFFF"/>
                </a:solidFill>
                <a:latin typeface="Georgia" pitchFamily="34" charset="0"/>
              </a:rPr>
              <a:t>4</a:t>
            </a:r>
            <a:endParaRPr lang="en-IN" dirty="0"/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56C212F3-DA7D-9B28-F74C-D58964DFADA9}"/>
              </a:ext>
            </a:extLst>
          </p:cNvPr>
          <p:cNvSpPr txBox="1"/>
          <p:nvPr/>
        </p:nvSpPr>
        <p:spPr>
          <a:xfrm>
            <a:off x="5387413" y="7477257"/>
            <a:ext cx="9601200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000" dirty="0">
                <a:solidFill>
                  <a:srgbClr val="8A9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University Academic Management System  |  DBMS Cornerstone Project – 2nd Review</a:t>
            </a:r>
            <a:endParaRPr lang="en-US" sz="1000" dirty="0"/>
          </a:p>
        </p:txBody>
      </p:sp>
    </p:spTree>
    <p:extLst>
      <p:ext uri="{BB962C8B-B14F-4D97-AF65-F5344CB8AC3E}">
        <p14:creationId xmlns:p14="http://schemas.microsoft.com/office/powerpoint/2010/main" val="5021124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994C3EB-A702-D17F-4829-E37569932D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Box 14">
            <a:extLst>
              <a:ext uri="{FF2B5EF4-FFF2-40B4-BE49-F238E27FC236}">
                <a16:creationId xmlns:a16="http://schemas.microsoft.com/office/drawing/2014/main" id="{C94372AF-741E-13F0-7A49-5899AAA88E58}"/>
              </a:ext>
            </a:extLst>
          </p:cNvPr>
          <p:cNvSpPr txBox="1"/>
          <p:nvPr/>
        </p:nvSpPr>
        <p:spPr>
          <a:xfrm>
            <a:off x="4412373" y="321324"/>
            <a:ext cx="5029200" cy="3924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95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DESIGN</a:t>
            </a:r>
          </a:p>
        </p:txBody>
      </p:sp>
      <p:pic>
        <p:nvPicPr>
          <p:cNvPr id="17" name="object 3">
            <a:extLst>
              <a:ext uri="{FF2B5EF4-FFF2-40B4-BE49-F238E27FC236}">
                <a16:creationId xmlns:a16="http://schemas.microsoft.com/office/drawing/2014/main" id="{A1EEC003-D96B-9878-B867-CB3E416DA499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90750" y="204311"/>
            <a:ext cx="1163002" cy="424338"/>
          </a:xfrm>
          <a:prstGeom prst="rect">
            <a:avLst/>
          </a:prstGeom>
        </p:spPr>
      </p:pic>
      <p:grpSp>
        <p:nvGrpSpPr>
          <p:cNvPr id="2" name="object 3">
            <a:extLst>
              <a:ext uri="{FF2B5EF4-FFF2-40B4-BE49-F238E27FC236}">
                <a16:creationId xmlns:a16="http://schemas.microsoft.com/office/drawing/2014/main" id="{444C8BDC-1408-2F08-ECFE-24342F99259F}"/>
              </a:ext>
            </a:extLst>
          </p:cNvPr>
          <p:cNvGrpSpPr/>
          <p:nvPr/>
        </p:nvGrpSpPr>
        <p:grpSpPr>
          <a:xfrm>
            <a:off x="2667000" y="85008"/>
            <a:ext cx="5103904" cy="1198311"/>
            <a:chOff x="2648188" y="47148"/>
            <a:chExt cx="5103904" cy="1198311"/>
          </a:xfrm>
        </p:grpSpPr>
        <p:pic>
          <p:nvPicPr>
            <p:cNvPr id="3" name="object 4">
              <a:extLst>
                <a:ext uri="{FF2B5EF4-FFF2-40B4-BE49-F238E27FC236}">
                  <a16:creationId xmlns:a16="http://schemas.microsoft.com/office/drawing/2014/main" id="{486D7949-B407-1EA2-DD79-8A477F1C214A}"/>
                </a:ext>
              </a:extLst>
            </p:cNvPr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648188" y="47148"/>
              <a:ext cx="5103904" cy="1198311"/>
            </a:xfrm>
            <a:prstGeom prst="rect">
              <a:avLst/>
            </a:prstGeom>
          </p:spPr>
        </p:pic>
        <p:pic>
          <p:nvPicPr>
            <p:cNvPr id="4" name="object 5">
              <a:extLst>
                <a:ext uri="{FF2B5EF4-FFF2-40B4-BE49-F238E27FC236}">
                  <a16:creationId xmlns:a16="http://schemas.microsoft.com/office/drawing/2014/main" id="{AF19115A-194D-B4F3-FDC6-80C7A9EAC643}"/>
                </a:ext>
              </a:extLst>
            </p:cNvPr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703195" y="86439"/>
              <a:ext cx="4997767" cy="1092279"/>
            </a:xfrm>
            <a:prstGeom prst="rect">
              <a:avLst/>
            </a:prstGeom>
          </p:spPr>
        </p:pic>
        <p:pic>
          <p:nvPicPr>
            <p:cNvPr id="5" name="object 6">
              <a:extLst>
                <a:ext uri="{FF2B5EF4-FFF2-40B4-BE49-F238E27FC236}">
                  <a16:creationId xmlns:a16="http://schemas.microsoft.com/office/drawing/2014/main" id="{E665D128-267F-2426-96EF-5BA2DC13C642}"/>
                </a:ext>
              </a:extLst>
            </p:cNvPr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2828925" y="243549"/>
              <a:ext cx="4585268" cy="522565"/>
            </a:xfrm>
            <a:prstGeom prst="rect">
              <a:avLst/>
            </a:prstGeom>
          </p:spPr>
        </p:pic>
        <p:sp>
          <p:nvSpPr>
            <p:cNvPr id="6" name="object 7">
              <a:extLst>
                <a:ext uri="{FF2B5EF4-FFF2-40B4-BE49-F238E27FC236}">
                  <a16:creationId xmlns:a16="http://schemas.microsoft.com/office/drawing/2014/main" id="{CBF6A033-32D1-951A-E7A6-E89336F7E40B}"/>
                </a:ext>
              </a:extLst>
            </p:cNvPr>
            <p:cNvSpPr/>
            <p:nvPr/>
          </p:nvSpPr>
          <p:spPr>
            <a:xfrm>
              <a:off x="2883931" y="282892"/>
              <a:ext cx="4479290" cy="416559"/>
            </a:xfrm>
            <a:custGeom>
              <a:avLst/>
              <a:gdLst/>
              <a:ahLst/>
              <a:cxnLst/>
              <a:rect l="l" t="t" r="r" b="b"/>
              <a:pathLst>
                <a:path w="4479290" h="416559">
                  <a:moveTo>
                    <a:pt x="4394158" y="0"/>
                  </a:moveTo>
                  <a:lnTo>
                    <a:pt x="84972" y="0"/>
                  </a:lnTo>
                  <a:lnTo>
                    <a:pt x="51863" y="5448"/>
                  </a:lnTo>
                  <a:lnTo>
                    <a:pt x="24831" y="20326"/>
                  </a:lnTo>
                  <a:lnTo>
                    <a:pt x="6705" y="42329"/>
                  </a:lnTo>
                  <a:lnTo>
                    <a:pt x="0" y="69361"/>
                  </a:lnTo>
                  <a:lnTo>
                    <a:pt x="0" y="346910"/>
                  </a:lnTo>
                  <a:lnTo>
                    <a:pt x="6705" y="373941"/>
                  </a:lnTo>
                  <a:lnTo>
                    <a:pt x="24831" y="395944"/>
                  </a:lnTo>
                  <a:lnTo>
                    <a:pt x="51863" y="410822"/>
                  </a:lnTo>
                  <a:lnTo>
                    <a:pt x="84972" y="416271"/>
                  </a:lnTo>
                  <a:lnTo>
                    <a:pt x="4394158" y="416271"/>
                  </a:lnTo>
                  <a:lnTo>
                    <a:pt x="4427267" y="410822"/>
                  </a:lnTo>
                  <a:lnTo>
                    <a:pt x="4454299" y="395944"/>
                  </a:lnTo>
                  <a:lnTo>
                    <a:pt x="4472425" y="373941"/>
                  </a:lnTo>
                  <a:lnTo>
                    <a:pt x="4479131" y="346910"/>
                  </a:lnTo>
                  <a:lnTo>
                    <a:pt x="4479131" y="69361"/>
                  </a:lnTo>
                  <a:lnTo>
                    <a:pt x="4472425" y="42329"/>
                  </a:lnTo>
                  <a:lnTo>
                    <a:pt x="4454299" y="20326"/>
                  </a:lnTo>
                  <a:lnTo>
                    <a:pt x="4427267" y="5448"/>
                  </a:lnTo>
                  <a:lnTo>
                    <a:pt x="4394158" y="0"/>
                  </a:lnTo>
                  <a:close/>
                </a:path>
              </a:pathLst>
            </a:custGeom>
            <a:solidFill>
              <a:srgbClr val="FF6600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</p:grpSp>
      <p:sp>
        <p:nvSpPr>
          <p:cNvPr id="7" name="TextBox 6">
            <a:extLst>
              <a:ext uri="{FF2B5EF4-FFF2-40B4-BE49-F238E27FC236}">
                <a16:creationId xmlns:a16="http://schemas.microsoft.com/office/drawing/2014/main" id="{0A3D4540-9EF3-DE22-0F98-4B4BAC3FACC2}"/>
              </a:ext>
            </a:extLst>
          </p:cNvPr>
          <p:cNvSpPr txBox="1"/>
          <p:nvPr/>
        </p:nvSpPr>
        <p:spPr>
          <a:xfrm>
            <a:off x="3200400" y="321324"/>
            <a:ext cx="5029200" cy="3924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95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ENTITIES &amp; ATTRIBUTES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A800D15-2389-5516-DA9E-AC441973A9C8}"/>
              </a:ext>
            </a:extLst>
          </p:cNvPr>
          <p:cNvSpPr txBox="1"/>
          <p:nvPr/>
        </p:nvSpPr>
        <p:spPr>
          <a:xfrm>
            <a:off x="1638300" y="924845"/>
            <a:ext cx="67818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400" i="1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Underlined attribute = primary key / * = foreign key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747963D6-0D7A-4C24-4D63-D30F1589D85F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0750" y="1752600"/>
            <a:ext cx="9458325" cy="4905375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301AE95B-95F5-46BC-98BF-96FF4CEC5F93}"/>
              </a:ext>
            </a:extLst>
          </p:cNvPr>
          <p:cNvSpPr txBox="1"/>
          <p:nvPr/>
        </p:nvSpPr>
        <p:spPr>
          <a:xfrm>
            <a:off x="4983873" y="7386491"/>
            <a:ext cx="891540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100" dirty="0">
                <a:solidFill>
                  <a:srgbClr val="8A9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University Academic Management System  |  DBMS Cornerstone Project – 2nd Review</a:t>
            </a:r>
            <a:endParaRPr lang="en-US" sz="1100" dirty="0"/>
          </a:p>
        </p:txBody>
      </p:sp>
    </p:spTree>
    <p:extLst>
      <p:ext uri="{BB962C8B-B14F-4D97-AF65-F5344CB8AC3E}">
        <p14:creationId xmlns:p14="http://schemas.microsoft.com/office/powerpoint/2010/main" val="337715525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7427A3C-9BEC-C61B-FC8D-3B949CD890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Box 14">
            <a:extLst>
              <a:ext uri="{FF2B5EF4-FFF2-40B4-BE49-F238E27FC236}">
                <a16:creationId xmlns:a16="http://schemas.microsoft.com/office/drawing/2014/main" id="{15F0E8CC-BDB8-7C3E-7C5E-012FD1252950}"/>
              </a:ext>
            </a:extLst>
          </p:cNvPr>
          <p:cNvSpPr txBox="1"/>
          <p:nvPr/>
        </p:nvSpPr>
        <p:spPr>
          <a:xfrm>
            <a:off x="4412373" y="321324"/>
            <a:ext cx="5029200" cy="3924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95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DESIGN</a:t>
            </a:r>
          </a:p>
        </p:txBody>
      </p:sp>
      <p:pic>
        <p:nvPicPr>
          <p:cNvPr id="17" name="object 3">
            <a:extLst>
              <a:ext uri="{FF2B5EF4-FFF2-40B4-BE49-F238E27FC236}">
                <a16:creationId xmlns:a16="http://schemas.microsoft.com/office/drawing/2014/main" id="{DBC28A04-FC65-6F36-8766-2B93E376E261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90750" y="204311"/>
            <a:ext cx="1163002" cy="424338"/>
          </a:xfrm>
          <a:prstGeom prst="rect">
            <a:avLst/>
          </a:prstGeom>
        </p:spPr>
      </p:pic>
      <p:grpSp>
        <p:nvGrpSpPr>
          <p:cNvPr id="2" name="object 3">
            <a:extLst>
              <a:ext uri="{FF2B5EF4-FFF2-40B4-BE49-F238E27FC236}">
                <a16:creationId xmlns:a16="http://schemas.microsoft.com/office/drawing/2014/main" id="{46F9D794-31EA-8ABA-A5E3-D49E7DEF13C2}"/>
              </a:ext>
            </a:extLst>
          </p:cNvPr>
          <p:cNvGrpSpPr/>
          <p:nvPr/>
        </p:nvGrpSpPr>
        <p:grpSpPr>
          <a:xfrm>
            <a:off x="2667000" y="85008"/>
            <a:ext cx="5103904" cy="1198311"/>
            <a:chOff x="2648188" y="47148"/>
            <a:chExt cx="5103904" cy="1198311"/>
          </a:xfrm>
        </p:grpSpPr>
        <p:pic>
          <p:nvPicPr>
            <p:cNvPr id="3" name="object 4">
              <a:extLst>
                <a:ext uri="{FF2B5EF4-FFF2-40B4-BE49-F238E27FC236}">
                  <a16:creationId xmlns:a16="http://schemas.microsoft.com/office/drawing/2014/main" id="{E0767A3E-73A4-9967-916C-59851FE931A3}"/>
                </a:ext>
              </a:extLst>
            </p:cNvPr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648188" y="47148"/>
              <a:ext cx="5103904" cy="1198311"/>
            </a:xfrm>
            <a:prstGeom prst="rect">
              <a:avLst/>
            </a:prstGeom>
          </p:spPr>
        </p:pic>
        <p:pic>
          <p:nvPicPr>
            <p:cNvPr id="4" name="object 5">
              <a:extLst>
                <a:ext uri="{FF2B5EF4-FFF2-40B4-BE49-F238E27FC236}">
                  <a16:creationId xmlns:a16="http://schemas.microsoft.com/office/drawing/2014/main" id="{5C64E3F9-2AFD-ACC7-6183-250AF43BDF58}"/>
                </a:ext>
              </a:extLst>
            </p:cNvPr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703195" y="86439"/>
              <a:ext cx="4997767" cy="1092279"/>
            </a:xfrm>
            <a:prstGeom prst="rect">
              <a:avLst/>
            </a:prstGeom>
          </p:spPr>
        </p:pic>
        <p:pic>
          <p:nvPicPr>
            <p:cNvPr id="5" name="object 6">
              <a:extLst>
                <a:ext uri="{FF2B5EF4-FFF2-40B4-BE49-F238E27FC236}">
                  <a16:creationId xmlns:a16="http://schemas.microsoft.com/office/drawing/2014/main" id="{01E94C25-6779-8458-E95E-F4782347F2B3}"/>
                </a:ext>
              </a:extLst>
            </p:cNvPr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2828925" y="243549"/>
              <a:ext cx="4585268" cy="522565"/>
            </a:xfrm>
            <a:prstGeom prst="rect">
              <a:avLst/>
            </a:prstGeom>
          </p:spPr>
        </p:pic>
        <p:sp>
          <p:nvSpPr>
            <p:cNvPr id="6" name="object 7">
              <a:extLst>
                <a:ext uri="{FF2B5EF4-FFF2-40B4-BE49-F238E27FC236}">
                  <a16:creationId xmlns:a16="http://schemas.microsoft.com/office/drawing/2014/main" id="{D4973351-D6E2-D3B8-C7AF-9344AB18D3A7}"/>
                </a:ext>
              </a:extLst>
            </p:cNvPr>
            <p:cNvSpPr/>
            <p:nvPr/>
          </p:nvSpPr>
          <p:spPr>
            <a:xfrm>
              <a:off x="2883931" y="282892"/>
              <a:ext cx="4479290" cy="416559"/>
            </a:xfrm>
            <a:custGeom>
              <a:avLst/>
              <a:gdLst/>
              <a:ahLst/>
              <a:cxnLst/>
              <a:rect l="l" t="t" r="r" b="b"/>
              <a:pathLst>
                <a:path w="4479290" h="416559">
                  <a:moveTo>
                    <a:pt x="4394158" y="0"/>
                  </a:moveTo>
                  <a:lnTo>
                    <a:pt x="84972" y="0"/>
                  </a:lnTo>
                  <a:lnTo>
                    <a:pt x="51863" y="5448"/>
                  </a:lnTo>
                  <a:lnTo>
                    <a:pt x="24831" y="20326"/>
                  </a:lnTo>
                  <a:lnTo>
                    <a:pt x="6705" y="42329"/>
                  </a:lnTo>
                  <a:lnTo>
                    <a:pt x="0" y="69361"/>
                  </a:lnTo>
                  <a:lnTo>
                    <a:pt x="0" y="346910"/>
                  </a:lnTo>
                  <a:lnTo>
                    <a:pt x="6705" y="373941"/>
                  </a:lnTo>
                  <a:lnTo>
                    <a:pt x="24831" y="395944"/>
                  </a:lnTo>
                  <a:lnTo>
                    <a:pt x="51863" y="410822"/>
                  </a:lnTo>
                  <a:lnTo>
                    <a:pt x="84972" y="416271"/>
                  </a:lnTo>
                  <a:lnTo>
                    <a:pt x="4394158" y="416271"/>
                  </a:lnTo>
                  <a:lnTo>
                    <a:pt x="4427267" y="410822"/>
                  </a:lnTo>
                  <a:lnTo>
                    <a:pt x="4454299" y="395944"/>
                  </a:lnTo>
                  <a:lnTo>
                    <a:pt x="4472425" y="373941"/>
                  </a:lnTo>
                  <a:lnTo>
                    <a:pt x="4479131" y="346910"/>
                  </a:lnTo>
                  <a:lnTo>
                    <a:pt x="4479131" y="69361"/>
                  </a:lnTo>
                  <a:lnTo>
                    <a:pt x="4472425" y="42329"/>
                  </a:lnTo>
                  <a:lnTo>
                    <a:pt x="4454299" y="20326"/>
                  </a:lnTo>
                  <a:lnTo>
                    <a:pt x="4427267" y="5448"/>
                  </a:lnTo>
                  <a:lnTo>
                    <a:pt x="4394158" y="0"/>
                  </a:lnTo>
                  <a:close/>
                </a:path>
              </a:pathLst>
            </a:custGeom>
            <a:solidFill>
              <a:srgbClr val="FF6600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</p:grpSp>
      <p:sp>
        <p:nvSpPr>
          <p:cNvPr id="7" name="TextBox 6">
            <a:extLst>
              <a:ext uri="{FF2B5EF4-FFF2-40B4-BE49-F238E27FC236}">
                <a16:creationId xmlns:a16="http://schemas.microsoft.com/office/drawing/2014/main" id="{50DE1838-629A-37A8-DB28-E5CABD39B264}"/>
              </a:ext>
            </a:extLst>
          </p:cNvPr>
          <p:cNvSpPr txBox="1"/>
          <p:nvPr/>
        </p:nvSpPr>
        <p:spPr>
          <a:xfrm>
            <a:off x="4191000" y="321324"/>
            <a:ext cx="5029200" cy="3924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95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ER DIAGRAM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036861F6-F653-C7D9-720F-5B222B55748F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7194" y="1000999"/>
            <a:ext cx="9336406" cy="65248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4997398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F1FF62A-28CD-1AF0-FCC9-9795D99130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Box 14">
            <a:extLst>
              <a:ext uri="{FF2B5EF4-FFF2-40B4-BE49-F238E27FC236}">
                <a16:creationId xmlns:a16="http://schemas.microsoft.com/office/drawing/2014/main" id="{EA882BD3-FCF2-C56E-AAE2-C4D14D585E66}"/>
              </a:ext>
            </a:extLst>
          </p:cNvPr>
          <p:cNvSpPr txBox="1"/>
          <p:nvPr/>
        </p:nvSpPr>
        <p:spPr>
          <a:xfrm>
            <a:off x="4412373" y="321324"/>
            <a:ext cx="5029200" cy="3924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95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DESIGN</a:t>
            </a:r>
          </a:p>
        </p:txBody>
      </p:sp>
      <p:pic>
        <p:nvPicPr>
          <p:cNvPr id="17" name="object 3">
            <a:extLst>
              <a:ext uri="{FF2B5EF4-FFF2-40B4-BE49-F238E27FC236}">
                <a16:creationId xmlns:a16="http://schemas.microsoft.com/office/drawing/2014/main" id="{3CC86148-DFF8-3451-7947-2685EE95BD9F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90750" y="204311"/>
            <a:ext cx="1163002" cy="424338"/>
          </a:xfrm>
          <a:prstGeom prst="rect">
            <a:avLst/>
          </a:prstGeom>
        </p:spPr>
      </p:pic>
      <p:grpSp>
        <p:nvGrpSpPr>
          <p:cNvPr id="2" name="object 3">
            <a:extLst>
              <a:ext uri="{FF2B5EF4-FFF2-40B4-BE49-F238E27FC236}">
                <a16:creationId xmlns:a16="http://schemas.microsoft.com/office/drawing/2014/main" id="{A4DF9EE2-487D-D75F-149C-A5A989F91BE8}"/>
              </a:ext>
            </a:extLst>
          </p:cNvPr>
          <p:cNvGrpSpPr/>
          <p:nvPr/>
        </p:nvGrpSpPr>
        <p:grpSpPr>
          <a:xfrm>
            <a:off x="2666999" y="-182676"/>
            <a:ext cx="5103904" cy="1198311"/>
            <a:chOff x="2648188" y="47148"/>
            <a:chExt cx="5103904" cy="1198311"/>
          </a:xfrm>
        </p:grpSpPr>
        <p:pic>
          <p:nvPicPr>
            <p:cNvPr id="3" name="object 4">
              <a:extLst>
                <a:ext uri="{FF2B5EF4-FFF2-40B4-BE49-F238E27FC236}">
                  <a16:creationId xmlns:a16="http://schemas.microsoft.com/office/drawing/2014/main" id="{1618242D-8DDA-301B-EF8C-793435D7B312}"/>
                </a:ext>
              </a:extLst>
            </p:cNvPr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648188" y="47148"/>
              <a:ext cx="5103904" cy="1198311"/>
            </a:xfrm>
            <a:prstGeom prst="rect">
              <a:avLst/>
            </a:prstGeom>
          </p:spPr>
        </p:pic>
        <p:pic>
          <p:nvPicPr>
            <p:cNvPr id="4" name="object 5">
              <a:extLst>
                <a:ext uri="{FF2B5EF4-FFF2-40B4-BE49-F238E27FC236}">
                  <a16:creationId xmlns:a16="http://schemas.microsoft.com/office/drawing/2014/main" id="{8669F432-648C-72A6-EE1E-52C40A5BB684}"/>
                </a:ext>
              </a:extLst>
            </p:cNvPr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703195" y="86439"/>
              <a:ext cx="4997767" cy="1092279"/>
            </a:xfrm>
            <a:prstGeom prst="rect">
              <a:avLst/>
            </a:prstGeom>
          </p:spPr>
        </p:pic>
        <p:pic>
          <p:nvPicPr>
            <p:cNvPr id="5" name="object 6">
              <a:extLst>
                <a:ext uri="{FF2B5EF4-FFF2-40B4-BE49-F238E27FC236}">
                  <a16:creationId xmlns:a16="http://schemas.microsoft.com/office/drawing/2014/main" id="{1D43B590-5504-6B74-CBB0-60480CB4BBC8}"/>
                </a:ext>
              </a:extLst>
            </p:cNvPr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2828925" y="243549"/>
              <a:ext cx="4585268" cy="522565"/>
            </a:xfrm>
            <a:prstGeom prst="rect">
              <a:avLst/>
            </a:prstGeom>
          </p:spPr>
        </p:pic>
        <p:sp>
          <p:nvSpPr>
            <p:cNvPr id="6" name="object 7">
              <a:extLst>
                <a:ext uri="{FF2B5EF4-FFF2-40B4-BE49-F238E27FC236}">
                  <a16:creationId xmlns:a16="http://schemas.microsoft.com/office/drawing/2014/main" id="{82876794-728A-676B-5B3B-0E4A8320CD7E}"/>
                </a:ext>
              </a:extLst>
            </p:cNvPr>
            <p:cNvSpPr/>
            <p:nvPr/>
          </p:nvSpPr>
          <p:spPr>
            <a:xfrm>
              <a:off x="2883931" y="282892"/>
              <a:ext cx="4479290" cy="416559"/>
            </a:xfrm>
            <a:custGeom>
              <a:avLst/>
              <a:gdLst/>
              <a:ahLst/>
              <a:cxnLst/>
              <a:rect l="l" t="t" r="r" b="b"/>
              <a:pathLst>
                <a:path w="4479290" h="416559">
                  <a:moveTo>
                    <a:pt x="4394158" y="0"/>
                  </a:moveTo>
                  <a:lnTo>
                    <a:pt x="84972" y="0"/>
                  </a:lnTo>
                  <a:lnTo>
                    <a:pt x="51863" y="5448"/>
                  </a:lnTo>
                  <a:lnTo>
                    <a:pt x="24831" y="20326"/>
                  </a:lnTo>
                  <a:lnTo>
                    <a:pt x="6705" y="42329"/>
                  </a:lnTo>
                  <a:lnTo>
                    <a:pt x="0" y="69361"/>
                  </a:lnTo>
                  <a:lnTo>
                    <a:pt x="0" y="346910"/>
                  </a:lnTo>
                  <a:lnTo>
                    <a:pt x="6705" y="373941"/>
                  </a:lnTo>
                  <a:lnTo>
                    <a:pt x="24831" y="395944"/>
                  </a:lnTo>
                  <a:lnTo>
                    <a:pt x="51863" y="410822"/>
                  </a:lnTo>
                  <a:lnTo>
                    <a:pt x="84972" y="416271"/>
                  </a:lnTo>
                  <a:lnTo>
                    <a:pt x="4394158" y="416271"/>
                  </a:lnTo>
                  <a:lnTo>
                    <a:pt x="4427267" y="410822"/>
                  </a:lnTo>
                  <a:lnTo>
                    <a:pt x="4454299" y="395944"/>
                  </a:lnTo>
                  <a:lnTo>
                    <a:pt x="4472425" y="373941"/>
                  </a:lnTo>
                  <a:lnTo>
                    <a:pt x="4479131" y="346910"/>
                  </a:lnTo>
                  <a:lnTo>
                    <a:pt x="4479131" y="69361"/>
                  </a:lnTo>
                  <a:lnTo>
                    <a:pt x="4472425" y="42329"/>
                  </a:lnTo>
                  <a:lnTo>
                    <a:pt x="4454299" y="20326"/>
                  </a:lnTo>
                  <a:lnTo>
                    <a:pt x="4427267" y="5448"/>
                  </a:lnTo>
                  <a:lnTo>
                    <a:pt x="4394158" y="0"/>
                  </a:lnTo>
                  <a:close/>
                </a:path>
              </a:pathLst>
            </a:custGeom>
            <a:solidFill>
              <a:srgbClr val="FF6600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</p:grpSp>
      <p:sp>
        <p:nvSpPr>
          <p:cNvPr id="7" name="TextBox 6">
            <a:extLst>
              <a:ext uri="{FF2B5EF4-FFF2-40B4-BE49-F238E27FC236}">
                <a16:creationId xmlns:a16="http://schemas.microsoft.com/office/drawing/2014/main" id="{75FAEAFE-5DA8-E3CC-E08A-02ABAA5C5423}"/>
              </a:ext>
            </a:extLst>
          </p:cNvPr>
          <p:cNvSpPr txBox="1"/>
          <p:nvPr/>
        </p:nvSpPr>
        <p:spPr>
          <a:xfrm>
            <a:off x="2963383" y="59881"/>
            <a:ext cx="50292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95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RELATIONAL</a:t>
            </a:r>
            <a:r>
              <a:rPr lang="en-IN" sz="2000" dirty="0"/>
              <a:t> </a:t>
            </a:r>
            <a:r>
              <a:rPr lang="en-IN" sz="195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DATABASE</a:t>
            </a:r>
            <a:r>
              <a:rPr lang="en-IN" sz="2000" dirty="0"/>
              <a:t> </a:t>
            </a:r>
            <a:r>
              <a:rPr lang="en-IN" sz="195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SCHEMA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5DDB999D-F42D-5AD4-366B-5D90B6FA437F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5801" y="594933"/>
            <a:ext cx="9081849" cy="71532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2853445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85D1103-BED3-D0D1-2B32-DF462A49AD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Box 14">
            <a:extLst>
              <a:ext uri="{FF2B5EF4-FFF2-40B4-BE49-F238E27FC236}">
                <a16:creationId xmlns:a16="http://schemas.microsoft.com/office/drawing/2014/main" id="{386A48A0-7630-F33A-9602-55A8C30FABC0}"/>
              </a:ext>
            </a:extLst>
          </p:cNvPr>
          <p:cNvSpPr txBox="1"/>
          <p:nvPr/>
        </p:nvSpPr>
        <p:spPr>
          <a:xfrm>
            <a:off x="4412373" y="321324"/>
            <a:ext cx="5029200" cy="3924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95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DESIGN</a:t>
            </a:r>
          </a:p>
        </p:txBody>
      </p:sp>
      <p:pic>
        <p:nvPicPr>
          <p:cNvPr id="17" name="object 3">
            <a:extLst>
              <a:ext uri="{FF2B5EF4-FFF2-40B4-BE49-F238E27FC236}">
                <a16:creationId xmlns:a16="http://schemas.microsoft.com/office/drawing/2014/main" id="{4D87CA1E-4756-F08E-63BD-75124D6360A1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90750" y="204311"/>
            <a:ext cx="1163002" cy="424338"/>
          </a:xfrm>
          <a:prstGeom prst="rect">
            <a:avLst/>
          </a:prstGeom>
        </p:spPr>
      </p:pic>
      <p:grpSp>
        <p:nvGrpSpPr>
          <p:cNvPr id="2" name="object 3">
            <a:extLst>
              <a:ext uri="{FF2B5EF4-FFF2-40B4-BE49-F238E27FC236}">
                <a16:creationId xmlns:a16="http://schemas.microsoft.com/office/drawing/2014/main" id="{631FFF4E-3585-C131-4111-19552BFBD0ED}"/>
              </a:ext>
            </a:extLst>
          </p:cNvPr>
          <p:cNvGrpSpPr/>
          <p:nvPr/>
        </p:nvGrpSpPr>
        <p:grpSpPr>
          <a:xfrm>
            <a:off x="2667000" y="85008"/>
            <a:ext cx="5103904" cy="1198311"/>
            <a:chOff x="2648188" y="47148"/>
            <a:chExt cx="5103904" cy="1198311"/>
          </a:xfrm>
        </p:grpSpPr>
        <p:pic>
          <p:nvPicPr>
            <p:cNvPr id="3" name="object 4">
              <a:extLst>
                <a:ext uri="{FF2B5EF4-FFF2-40B4-BE49-F238E27FC236}">
                  <a16:creationId xmlns:a16="http://schemas.microsoft.com/office/drawing/2014/main" id="{23462C3B-779A-ECC8-E6A0-EBE10897D9C8}"/>
                </a:ext>
              </a:extLst>
            </p:cNvPr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648188" y="47148"/>
              <a:ext cx="5103904" cy="1198311"/>
            </a:xfrm>
            <a:prstGeom prst="rect">
              <a:avLst/>
            </a:prstGeom>
          </p:spPr>
        </p:pic>
        <p:pic>
          <p:nvPicPr>
            <p:cNvPr id="4" name="object 5">
              <a:extLst>
                <a:ext uri="{FF2B5EF4-FFF2-40B4-BE49-F238E27FC236}">
                  <a16:creationId xmlns:a16="http://schemas.microsoft.com/office/drawing/2014/main" id="{1C485986-3706-6533-B03D-5A8A8566EDEA}"/>
                </a:ext>
              </a:extLst>
            </p:cNvPr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703195" y="86439"/>
              <a:ext cx="4997767" cy="1092279"/>
            </a:xfrm>
            <a:prstGeom prst="rect">
              <a:avLst/>
            </a:prstGeom>
          </p:spPr>
        </p:pic>
        <p:pic>
          <p:nvPicPr>
            <p:cNvPr id="5" name="object 6">
              <a:extLst>
                <a:ext uri="{FF2B5EF4-FFF2-40B4-BE49-F238E27FC236}">
                  <a16:creationId xmlns:a16="http://schemas.microsoft.com/office/drawing/2014/main" id="{C06018CA-58C0-7E2C-3046-85D5E75FDF52}"/>
                </a:ext>
              </a:extLst>
            </p:cNvPr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2828925" y="243549"/>
              <a:ext cx="4585268" cy="522565"/>
            </a:xfrm>
            <a:prstGeom prst="rect">
              <a:avLst/>
            </a:prstGeom>
          </p:spPr>
        </p:pic>
        <p:sp>
          <p:nvSpPr>
            <p:cNvPr id="6" name="object 7">
              <a:extLst>
                <a:ext uri="{FF2B5EF4-FFF2-40B4-BE49-F238E27FC236}">
                  <a16:creationId xmlns:a16="http://schemas.microsoft.com/office/drawing/2014/main" id="{48EE4812-0FE8-8F6E-37C0-C1D8649E38B8}"/>
                </a:ext>
              </a:extLst>
            </p:cNvPr>
            <p:cNvSpPr/>
            <p:nvPr/>
          </p:nvSpPr>
          <p:spPr>
            <a:xfrm>
              <a:off x="2883931" y="282892"/>
              <a:ext cx="4479290" cy="416559"/>
            </a:xfrm>
            <a:custGeom>
              <a:avLst/>
              <a:gdLst/>
              <a:ahLst/>
              <a:cxnLst/>
              <a:rect l="l" t="t" r="r" b="b"/>
              <a:pathLst>
                <a:path w="4479290" h="416559">
                  <a:moveTo>
                    <a:pt x="4394158" y="0"/>
                  </a:moveTo>
                  <a:lnTo>
                    <a:pt x="84972" y="0"/>
                  </a:lnTo>
                  <a:lnTo>
                    <a:pt x="51863" y="5448"/>
                  </a:lnTo>
                  <a:lnTo>
                    <a:pt x="24831" y="20326"/>
                  </a:lnTo>
                  <a:lnTo>
                    <a:pt x="6705" y="42329"/>
                  </a:lnTo>
                  <a:lnTo>
                    <a:pt x="0" y="69361"/>
                  </a:lnTo>
                  <a:lnTo>
                    <a:pt x="0" y="346910"/>
                  </a:lnTo>
                  <a:lnTo>
                    <a:pt x="6705" y="373941"/>
                  </a:lnTo>
                  <a:lnTo>
                    <a:pt x="24831" y="395944"/>
                  </a:lnTo>
                  <a:lnTo>
                    <a:pt x="51863" y="410822"/>
                  </a:lnTo>
                  <a:lnTo>
                    <a:pt x="84972" y="416271"/>
                  </a:lnTo>
                  <a:lnTo>
                    <a:pt x="4394158" y="416271"/>
                  </a:lnTo>
                  <a:lnTo>
                    <a:pt x="4427267" y="410822"/>
                  </a:lnTo>
                  <a:lnTo>
                    <a:pt x="4454299" y="395944"/>
                  </a:lnTo>
                  <a:lnTo>
                    <a:pt x="4472425" y="373941"/>
                  </a:lnTo>
                  <a:lnTo>
                    <a:pt x="4479131" y="346910"/>
                  </a:lnTo>
                  <a:lnTo>
                    <a:pt x="4479131" y="69361"/>
                  </a:lnTo>
                  <a:lnTo>
                    <a:pt x="4472425" y="42329"/>
                  </a:lnTo>
                  <a:lnTo>
                    <a:pt x="4454299" y="20326"/>
                  </a:lnTo>
                  <a:lnTo>
                    <a:pt x="4427267" y="5448"/>
                  </a:lnTo>
                  <a:lnTo>
                    <a:pt x="4394158" y="0"/>
                  </a:lnTo>
                  <a:close/>
                </a:path>
              </a:pathLst>
            </a:custGeom>
            <a:solidFill>
              <a:srgbClr val="FF6600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</p:grpSp>
      <p:sp>
        <p:nvSpPr>
          <p:cNvPr id="7" name="TextBox 6">
            <a:extLst>
              <a:ext uri="{FF2B5EF4-FFF2-40B4-BE49-F238E27FC236}">
                <a16:creationId xmlns:a16="http://schemas.microsoft.com/office/drawing/2014/main" id="{C996B418-1692-861F-B2FC-D97A6A0DCECA}"/>
              </a:ext>
            </a:extLst>
          </p:cNvPr>
          <p:cNvSpPr txBox="1"/>
          <p:nvPr/>
        </p:nvSpPr>
        <p:spPr>
          <a:xfrm>
            <a:off x="3429000" y="321324"/>
            <a:ext cx="50292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95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PRIMARY</a:t>
            </a:r>
            <a:r>
              <a:rPr lang="en-IN" sz="2000" dirty="0"/>
              <a:t> </a:t>
            </a:r>
            <a:r>
              <a:rPr lang="en-IN" sz="195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&amp;</a:t>
            </a:r>
            <a:r>
              <a:rPr lang="en-IN" sz="2000" dirty="0"/>
              <a:t> </a:t>
            </a:r>
            <a:r>
              <a:rPr lang="en-IN" sz="195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FOREIGN</a:t>
            </a:r>
            <a:r>
              <a:rPr lang="en-IN" sz="2000" dirty="0"/>
              <a:t> </a:t>
            </a:r>
            <a:r>
              <a:rPr lang="en-IN" sz="195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KEYS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DAC6F90-1874-98F6-6C57-34BB236944B1}"/>
              </a:ext>
            </a:extLst>
          </p:cNvPr>
          <p:cNvSpPr txBox="1"/>
          <p:nvPr/>
        </p:nvSpPr>
        <p:spPr>
          <a:xfrm>
            <a:off x="388143" y="1215359"/>
            <a:ext cx="50292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b="1" spc="165" dirty="0">
                <a:solidFill>
                  <a:schemeClr val="accent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ANALYSIS</a:t>
            </a:r>
            <a:endParaRPr lang="en-IN" dirty="0">
              <a:solidFill>
                <a:schemeClr val="accent6"/>
              </a:solidFill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B007E017-835E-60C9-CFBC-6355980B05BD}"/>
              </a:ext>
            </a:extLst>
          </p:cNvPr>
          <p:cNvSpPr txBox="1"/>
          <p:nvPr/>
        </p:nvSpPr>
        <p:spPr>
          <a:xfrm>
            <a:off x="4876800" y="7451076"/>
            <a:ext cx="11438686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100" dirty="0">
                <a:solidFill>
                  <a:srgbClr val="8A9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University Academic Management System  |  DBMS Cornerstone Project – 2nd Review</a:t>
            </a:r>
            <a:endParaRPr lang="en-US" sz="1100" dirty="0"/>
          </a:p>
        </p:txBody>
      </p:sp>
      <p:graphicFrame>
        <p:nvGraphicFramePr>
          <p:cNvPr id="11" name="Table 10">
            <a:extLst>
              <a:ext uri="{FF2B5EF4-FFF2-40B4-BE49-F238E27FC236}">
                <a16:creationId xmlns:a16="http://schemas.microsoft.com/office/drawing/2014/main" id="{228F1678-138E-CE9A-ED02-4CCDC04D37FC}"/>
              </a:ext>
            </a:extLst>
          </p:cNvPr>
          <p:cNvGraphicFramePr>
            <a:graphicFrameLocks noGrp="1"/>
          </p:cNvGraphicFramePr>
          <p:nvPr/>
        </p:nvGraphicFramePr>
        <p:xfrm>
          <a:off x="728753" y="1754141"/>
          <a:ext cx="8686800" cy="3423647"/>
        </p:xfrm>
        <a:graphic>
          <a:graphicData uri="http://schemas.openxmlformats.org/drawingml/2006/table">
            <a:tbl>
              <a:tblPr firstRow="1" firstCol="1" lastCol="1" bandRow="1">
                <a:tableStyleId>{5C22544A-7EE6-4342-B048-85BDC9FD1C3A}</a:tableStyleId>
              </a:tblPr>
              <a:tblGrid>
                <a:gridCol w="2863781">
                  <a:extLst>
                    <a:ext uri="{9D8B030D-6E8A-4147-A177-3AD203B41FA5}">
                      <a16:colId xmlns:a16="http://schemas.microsoft.com/office/drawing/2014/main" val="3335475536"/>
                    </a:ext>
                  </a:extLst>
                </a:gridCol>
                <a:gridCol w="2927419">
                  <a:extLst>
                    <a:ext uri="{9D8B030D-6E8A-4147-A177-3AD203B41FA5}">
                      <a16:colId xmlns:a16="http://schemas.microsoft.com/office/drawing/2014/main" val="1122353587"/>
                    </a:ext>
                  </a:extLst>
                </a:gridCol>
                <a:gridCol w="2895600">
                  <a:extLst>
                    <a:ext uri="{9D8B030D-6E8A-4147-A177-3AD203B41FA5}">
                      <a16:colId xmlns:a16="http://schemas.microsoft.com/office/drawing/2014/main" val="594988920"/>
                    </a:ext>
                  </a:extLst>
                </a:gridCol>
              </a:tblGrid>
              <a:tr h="487073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ENTITY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PRIMARY KEY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FOREIGN KEY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9112217"/>
                  </a:ext>
                </a:extLst>
              </a:tr>
              <a:tr h="487073">
                <a:tc>
                  <a:txBody>
                    <a:bodyPr/>
                    <a:lstStyle/>
                    <a:p>
                      <a:r>
                        <a:rPr lang="en-US" b="1" dirty="0"/>
                        <a:t>Student</a:t>
                      </a:r>
                      <a:endParaRPr lang="en-IN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dirty="0" err="1">
                          <a:solidFill>
                            <a:schemeClr val="accent1"/>
                          </a:solidFill>
                        </a:rPr>
                        <a:t>student_id</a:t>
                      </a:r>
                      <a:endParaRPr lang="en-US" b="1" dirty="0">
                        <a:solidFill>
                          <a:schemeClr val="accent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/>
                        <a:t>dept_id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85566638"/>
                  </a:ext>
                </a:extLst>
              </a:tr>
              <a:tr h="487073">
                <a:tc>
                  <a:txBody>
                    <a:bodyPr/>
                    <a:lstStyle/>
                    <a:p>
                      <a:r>
                        <a:rPr lang="en-US" b="1" dirty="0"/>
                        <a:t>Faculty</a:t>
                      </a:r>
                      <a:endParaRPr lang="en-IN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dirty="0" err="1">
                          <a:solidFill>
                            <a:schemeClr val="accent1"/>
                          </a:solidFill>
                        </a:rPr>
                        <a:t>faculty_id</a:t>
                      </a:r>
                      <a:endParaRPr lang="en-IN" b="1" dirty="0">
                        <a:solidFill>
                          <a:schemeClr val="accent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/>
                        <a:t>dept_id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5909207"/>
                  </a:ext>
                </a:extLst>
              </a:tr>
              <a:tr h="487073">
                <a:tc>
                  <a:txBody>
                    <a:bodyPr/>
                    <a:lstStyle/>
                    <a:p>
                      <a:r>
                        <a:rPr lang="en-US" b="1" dirty="0"/>
                        <a:t>Department</a:t>
                      </a:r>
                      <a:endParaRPr lang="en-IN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dirty="0" err="1">
                          <a:solidFill>
                            <a:schemeClr val="accent1"/>
                          </a:solidFill>
                        </a:rPr>
                        <a:t>dept_id</a:t>
                      </a:r>
                      <a:endParaRPr lang="en-IN" b="1" dirty="0">
                        <a:solidFill>
                          <a:schemeClr val="accent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/>
                        <a:t>hod_id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42161992"/>
                  </a:ext>
                </a:extLst>
              </a:tr>
              <a:tr h="487073">
                <a:tc>
                  <a:txBody>
                    <a:bodyPr/>
                    <a:lstStyle/>
                    <a:p>
                      <a:r>
                        <a:rPr lang="en-US" b="1" dirty="0"/>
                        <a:t>Course</a:t>
                      </a:r>
                      <a:endParaRPr lang="en-IN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dirty="0" err="1">
                          <a:solidFill>
                            <a:schemeClr val="accent1"/>
                          </a:solidFill>
                        </a:rPr>
                        <a:t>course_id</a:t>
                      </a:r>
                      <a:endParaRPr lang="en-IN" b="1" dirty="0">
                        <a:solidFill>
                          <a:schemeClr val="accent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/>
                        <a:t>dept_id</a:t>
                      </a:r>
                      <a:r>
                        <a:rPr lang="en-US" dirty="0"/>
                        <a:t>, </a:t>
                      </a:r>
                      <a:r>
                        <a:rPr lang="en-US" dirty="0" err="1"/>
                        <a:t>faculty_id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26170143"/>
                  </a:ext>
                </a:extLst>
              </a:tr>
              <a:tr h="487073">
                <a:tc>
                  <a:txBody>
                    <a:bodyPr/>
                    <a:lstStyle/>
                    <a:p>
                      <a:r>
                        <a:rPr lang="en-US" b="1" dirty="0"/>
                        <a:t>Enrollment</a:t>
                      </a:r>
                      <a:endParaRPr lang="en-IN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dirty="0" err="1">
                          <a:solidFill>
                            <a:schemeClr val="accent1"/>
                          </a:solidFill>
                        </a:rPr>
                        <a:t>enrollment_id</a:t>
                      </a:r>
                      <a:endParaRPr lang="en-IN" b="1" dirty="0">
                        <a:solidFill>
                          <a:schemeClr val="accent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/>
                        <a:t>student_id</a:t>
                      </a:r>
                      <a:r>
                        <a:rPr lang="en-US" dirty="0"/>
                        <a:t>, </a:t>
                      </a:r>
                      <a:r>
                        <a:rPr lang="en-US" dirty="0" err="1"/>
                        <a:t>course_id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73595554"/>
                  </a:ext>
                </a:extLst>
              </a:tr>
              <a:tr h="501209">
                <a:tc>
                  <a:txBody>
                    <a:bodyPr/>
                    <a:lstStyle/>
                    <a:p>
                      <a:r>
                        <a:rPr lang="en-US" b="1" dirty="0"/>
                        <a:t>Result</a:t>
                      </a:r>
                      <a:endParaRPr lang="en-IN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dirty="0" err="1">
                          <a:solidFill>
                            <a:schemeClr val="accent1"/>
                          </a:solidFill>
                        </a:rPr>
                        <a:t>result_id</a:t>
                      </a:r>
                      <a:endParaRPr lang="en-IN" b="1" dirty="0">
                        <a:solidFill>
                          <a:schemeClr val="accent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/>
                        <a:t>enrollment_id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00312665"/>
                  </a:ext>
                </a:extLst>
              </a:tr>
            </a:tbl>
          </a:graphicData>
        </a:graphic>
      </p:graphicFrame>
      <p:sp>
        <p:nvSpPr>
          <p:cNvPr id="25" name="Rectangle: Rounded Corners 24">
            <a:extLst>
              <a:ext uri="{FF2B5EF4-FFF2-40B4-BE49-F238E27FC236}">
                <a16:creationId xmlns:a16="http://schemas.microsoft.com/office/drawing/2014/main" id="{ED61C5AC-AD80-8611-75DB-2273CDA8B847}"/>
              </a:ext>
            </a:extLst>
          </p:cNvPr>
          <p:cNvSpPr/>
          <p:nvPr/>
        </p:nvSpPr>
        <p:spPr>
          <a:xfrm>
            <a:off x="5181600" y="5756661"/>
            <a:ext cx="4343400" cy="1571222"/>
          </a:xfrm>
          <a:prstGeom prst="round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FOREIGN KEY</a:t>
            </a:r>
          </a:p>
          <a:p>
            <a:r>
              <a:rPr lang="en-US" sz="16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foreign key references the primary key of another table. It enforces referential </a:t>
            </a:r>
          </a:p>
          <a:p>
            <a:r>
              <a:rPr lang="en-US" sz="16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integrity — for example, </a:t>
            </a:r>
            <a:r>
              <a:rPr lang="en-US" sz="1600" b="1" dirty="0" err="1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program_id</a:t>
            </a:r>
            <a:r>
              <a:rPr lang="en-US" sz="16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in </a:t>
            </a:r>
            <a:r>
              <a:rPr lang="en-US" sz="1600" b="1" dirty="0" err="1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tudent</a:t>
            </a:r>
            <a:r>
              <a:rPr lang="en-US" sz="16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must exist in program</a:t>
            </a:r>
            <a:endParaRPr lang="en-IN" sz="1600" b="1" dirty="0"/>
          </a:p>
        </p:txBody>
      </p:sp>
      <p:sp>
        <p:nvSpPr>
          <p:cNvPr id="26" name="Rectangle: Rounded Corners 25">
            <a:extLst>
              <a:ext uri="{FF2B5EF4-FFF2-40B4-BE49-F238E27FC236}">
                <a16:creationId xmlns:a16="http://schemas.microsoft.com/office/drawing/2014/main" id="{80AEF14C-8843-893A-583F-697ED6815E1F}"/>
              </a:ext>
            </a:extLst>
          </p:cNvPr>
          <p:cNvSpPr/>
          <p:nvPr/>
        </p:nvSpPr>
        <p:spPr>
          <a:xfrm>
            <a:off x="388143" y="5756660"/>
            <a:ext cx="4343400" cy="1571222"/>
          </a:xfrm>
          <a:prstGeom prst="round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>
              <a:lnSpc>
                <a:spcPts val="1540"/>
              </a:lnSpc>
            </a:pPr>
            <a:r>
              <a:rPr lang="en-US" b="1" dirty="0">
                <a:solidFill>
                  <a:schemeClr val="accent6">
                    <a:lumMod val="7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 KEY</a:t>
            </a:r>
          </a:p>
          <a:p>
            <a:pPr>
              <a:lnSpc>
                <a:spcPts val="1540"/>
              </a:lnSpc>
            </a:pPr>
            <a:endParaRPr lang="en-US" sz="1600" b="1" dirty="0">
              <a:solidFill>
                <a:schemeClr val="accent6">
                  <a:lumMod val="75000"/>
                </a:schemeClr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>
              <a:lnSpc>
                <a:spcPts val="1540"/>
              </a:lnSpc>
            </a:pPr>
            <a:r>
              <a:rPr lang="en-US" sz="1600" b="1" dirty="0">
                <a:solidFill>
                  <a:schemeClr val="accent6">
                    <a:lumMod val="7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primary key uniquely identifies each record in a table. It cannot be NULL and cannot repeat — for example, </a:t>
            </a:r>
            <a:r>
              <a:rPr lang="en-US" sz="1600" b="1" dirty="0" err="1">
                <a:solidFill>
                  <a:schemeClr val="accent6">
                    <a:lumMod val="7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student_id</a:t>
            </a:r>
            <a:r>
              <a:rPr lang="en-US" sz="1600" b="1" dirty="0">
                <a:solidFill>
                  <a:schemeClr val="accent6">
                    <a:lumMod val="7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identifies exactly one student.</a:t>
            </a:r>
            <a:endParaRPr lang="en-US" sz="1600" b="1" dirty="0">
              <a:solidFill>
                <a:schemeClr val="accent6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208938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994C3EB-A702-D17F-4829-E37569932D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Box 14">
            <a:extLst>
              <a:ext uri="{FF2B5EF4-FFF2-40B4-BE49-F238E27FC236}">
                <a16:creationId xmlns:a16="http://schemas.microsoft.com/office/drawing/2014/main" id="{C94372AF-741E-13F0-7A49-5899AAA88E58}"/>
              </a:ext>
            </a:extLst>
          </p:cNvPr>
          <p:cNvSpPr txBox="1"/>
          <p:nvPr/>
        </p:nvSpPr>
        <p:spPr>
          <a:xfrm>
            <a:off x="4412373" y="321324"/>
            <a:ext cx="5029200" cy="3924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95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DESIGN</a:t>
            </a:r>
          </a:p>
        </p:txBody>
      </p:sp>
      <p:pic>
        <p:nvPicPr>
          <p:cNvPr id="17" name="object 3">
            <a:extLst>
              <a:ext uri="{FF2B5EF4-FFF2-40B4-BE49-F238E27FC236}">
                <a16:creationId xmlns:a16="http://schemas.microsoft.com/office/drawing/2014/main" id="{A1EEC003-D96B-9878-B867-CB3E416DA499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90750" y="204311"/>
            <a:ext cx="1163002" cy="424338"/>
          </a:xfrm>
          <a:prstGeom prst="rect">
            <a:avLst/>
          </a:prstGeom>
        </p:spPr>
      </p:pic>
      <p:grpSp>
        <p:nvGrpSpPr>
          <p:cNvPr id="2" name="object 3">
            <a:extLst>
              <a:ext uri="{FF2B5EF4-FFF2-40B4-BE49-F238E27FC236}">
                <a16:creationId xmlns:a16="http://schemas.microsoft.com/office/drawing/2014/main" id="{444C8BDC-1408-2F08-ECFE-24342F99259F}"/>
              </a:ext>
            </a:extLst>
          </p:cNvPr>
          <p:cNvGrpSpPr/>
          <p:nvPr/>
        </p:nvGrpSpPr>
        <p:grpSpPr>
          <a:xfrm>
            <a:off x="2667000" y="85008"/>
            <a:ext cx="5103904" cy="1198311"/>
            <a:chOff x="2648188" y="47148"/>
            <a:chExt cx="5103904" cy="1198311"/>
          </a:xfrm>
        </p:grpSpPr>
        <p:pic>
          <p:nvPicPr>
            <p:cNvPr id="3" name="object 4">
              <a:extLst>
                <a:ext uri="{FF2B5EF4-FFF2-40B4-BE49-F238E27FC236}">
                  <a16:creationId xmlns:a16="http://schemas.microsoft.com/office/drawing/2014/main" id="{486D7949-B407-1EA2-DD79-8A477F1C214A}"/>
                </a:ext>
              </a:extLst>
            </p:cNvPr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648188" y="47148"/>
              <a:ext cx="5103904" cy="1198311"/>
            </a:xfrm>
            <a:prstGeom prst="rect">
              <a:avLst/>
            </a:prstGeom>
          </p:spPr>
        </p:pic>
        <p:pic>
          <p:nvPicPr>
            <p:cNvPr id="4" name="object 5">
              <a:extLst>
                <a:ext uri="{FF2B5EF4-FFF2-40B4-BE49-F238E27FC236}">
                  <a16:creationId xmlns:a16="http://schemas.microsoft.com/office/drawing/2014/main" id="{AF19115A-194D-B4F3-FDC6-80C7A9EAC643}"/>
                </a:ext>
              </a:extLst>
            </p:cNvPr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703195" y="86439"/>
              <a:ext cx="4997767" cy="1092279"/>
            </a:xfrm>
            <a:prstGeom prst="rect">
              <a:avLst/>
            </a:prstGeom>
          </p:spPr>
        </p:pic>
        <p:pic>
          <p:nvPicPr>
            <p:cNvPr id="5" name="object 6">
              <a:extLst>
                <a:ext uri="{FF2B5EF4-FFF2-40B4-BE49-F238E27FC236}">
                  <a16:creationId xmlns:a16="http://schemas.microsoft.com/office/drawing/2014/main" id="{E665D128-267F-2426-96EF-5BA2DC13C642}"/>
                </a:ext>
              </a:extLst>
            </p:cNvPr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2828925" y="243549"/>
              <a:ext cx="4585268" cy="522565"/>
            </a:xfrm>
            <a:prstGeom prst="rect">
              <a:avLst/>
            </a:prstGeom>
          </p:spPr>
        </p:pic>
        <p:sp>
          <p:nvSpPr>
            <p:cNvPr id="6" name="object 7">
              <a:extLst>
                <a:ext uri="{FF2B5EF4-FFF2-40B4-BE49-F238E27FC236}">
                  <a16:creationId xmlns:a16="http://schemas.microsoft.com/office/drawing/2014/main" id="{CBF6A033-32D1-951A-E7A6-E89336F7E40B}"/>
                </a:ext>
              </a:extLst>
            </p:cNvPr>
            <p:cNvSpPr/>
            <p:nvPr/>
          </p:nvSpPr>
          <p:spPr>
            <a:xfrm>
              <a:off x="2883931" y="282892"/>
              <a:ext cx="4479290" cy="416559"/>
            </a:xfrm>
            <a:custGeom>
              <a:avLst/>
              <a:gdLst/>
              <a:ahLst/>
              <a:cxnLst/>
              <a:rect l="l" t="t" r="r" b="b"/>
              <a:pathLst>
                <a:path w="4479290" h="416559">
                  <a:moveTo>
                    <a:pt x="4394158" y="0"/>
                  </a:moveTo>
                  <a:lnTo>
                    <a:pt x="84972" y="0"/>
                  </a:lnTo>
                  <a:lnTo>
                    <a:pt x="51863" y="5448"/>
                  </a:lnTo>
                  <a:lnTo>
                    <a:pt x="24831" y="20326"/>
                  </a:lnTo>
                  <a:lnTo>
                    <a:pt x="6705" y="42329"/>
                  </a:lnTo>
                  <a:lnTo>
                    <a:pt x="0" y="69361"/>
                  </a:lnTo>
                  <a:lnTo>
                    <a:pt x="0" y="346910"/>
                  </a:lnTo>
                  <a:lnTo>
                    <a:pt x="6705" y="373941"/>
                  </a:lnTo>
                  <a:lnTo>
                    <a:pt x="24831" y="395944"/>
                  </a:lnTo>
                  <a:lnTo>
                    <a:pt x="51863" y="410822"/>
                  </a:lnTo>
                  <a:lnTo>
                    <a:pt x="84972" y="416271"/>
                  </a:lnTo>
                  <a:lnTo>
                    <a:pt x="4394158" y="416271"/>
                  </a:lnTo>
                  <a:lnTo>
                    <a:pt x="4427267" y="410822"/>
                  </a:lnTo>
                  <a:lnTo>
                    <a:pt x="4454299" y="395944"/>
                  </a:lnTo>
                  <a:lnTo>
                    <a:pt x="4472425" y="373941"/>
                  </a:lnTo>
                  <a:lnTo>
                    <a:pt x="4479131" y="346910"/>
                  </a:lnTo>
                  <a:lnTo>
                    <a:pt x="4479131" y="69361"/>
                  </a:lnTo>
                  <a:lnTo>
                    <a:pt x="4472425" y="42329"/>
                  </a:lnTo>
                  <a:lnTo>
                    <a:pt x="4454299" y="20326"/>
                  </a:lnTo>
                  <a:lnTo>
                    <a:pt x="4427267" y="5448"/>
                  </a:lnTo>
                  <a:lnTo>
                    <a:pt x="4394158" y="0"/>
                  </a:lnTo>
                  <a:close/>
                </a:path>
              </a:pathLst>
            </a:custGeom>
            <a:solidFill>
              <a:srgbClr val="FF6600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</p:grpSp>
      <p:sp>
        <p:nvSpPr>
          <p:cNvPr id="7" name="TextBox 6">
            <a:extLst>
              <a:ext uri="{FF2B5EF4-FFF2-40B4-BE49-F238E27FC236}">
                <a16:creationId xmlns:a16="http://schemas.microsoft.com/office/drawing/2014/main" id="{0A3D4540-9EF3-DE22-0F98-4B4BAC3FACC2}"/>
              </a:ext>
            </a:extLst>
          </p:cNvPr>
          <p:cNvSpPr txBox="1"/>
          <p:nvPr/>
        </p:nvSpPr>
        <p:spPr>
          <a:xfrm>
            <a:off x="3200400" y="321324"/>
            <a:ext cx="5029200" cy="3924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95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GITHUB REPOSITORY &amp; TEAM</a:t>
            </a:r>
          </a:p>
        </p:txBody>
      </p:sp>
      <p:graphicFrame>
        <p:nvGraphicFramePr>
          <p:cNvPr id="18" name="Table 17">
            <a:extLst>
              <a:ext uri="{FF2B5EF4-FFF2-40B4-BE49-F238E27FC236}">
                <a16:creationId xmlns:a16="http://schemas.microsoft.com/office/drawing/2014/main" id="{F3E0D370-04D7-EAD1-B998-2555EAB2F12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43867678"/>
              </p:ext>
            </p:extLst>
          </p:nvPr>
        </p:nvGraphicFramePr>
        <p:xfrm>
          <a:off x="762000" y="1651000"/>
          <a:ext cx="8534400" cy="3032760"/>
        </p:xfrm>
        <a:graphic>
          <a:graphicData uri="http://schemas.openxmlformats.org/drawingml/2006/table">
            <a:tbl>
              <a:tblPr firstRow="1" bandRow="1">
                <a:tableStyleId>{93296810-A885-4BE3-A3E7-6D5BEEA58F35}</a:tableStyleId>
              </a:tblPr>
              <a:tblGrid>
                <a:gridCol w="838200">
                  <a:extLst>
                    <a:ext uri="{9D8B030D-6E8A-4147-A177-3AD203B41FA5}">
                      <a16:colId xmlns:a16="http://schemas.microsoft.com/office/drawing/2014/main" val="2712380952"/>
                    </a:ext>
                  </a:extLst>
                </a:gridCol>
                <a:gridCol w="2590800">
                  <a:extLst>
                    <a:ext uri="{9D8B030D-6E8A-4147-A177-3AD203B41FA5}">
                      <a16:colId xmlns:a16="http://schemas.microsoft.com/office/drawing/2014/main" val="3207731011"/>
                    </a:ext>
                  </a:extLst>
                </a:gridCol>
                <a:gridCol w="1524000">
                  <a:extLst>
                    <a:ext uri="{9D8B030D-6E8A-4147-A177-3AD203B41FA5}">
                      <a16:colId xmlns:a16="http://schemas.microsoft.com/office/drawing/2014/main" val="1675508608"/>
                    </a:ext>
                  </a:extLst>
                </a:gridCol>
                <a:gridCol w="3581400">
                  <a:extLst>
                    <a:ext uri="{9D8B030D-6E8A-4147-A177-3AD203B41FA5}">
                      <a16:colId xmlns:a16="http://schemas.microsoft.com/office/drawing/2014/main" val="4047760657"/>
                    </a:ext>
                  </a:extLst>
                </a:gridCol>
              </a:tblGrid>
              <a:tr h="58420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S. No.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Team Member Name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Roll Number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Responsibilities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02241120"/>
                  </a:ext>
                </a:extLst>
              </a:tr>
              <a:tr h="584200">
                <a:tc>
                  <a:txBody>
                    <a:bodyPr/>
                    <a:lstStyle/>
                    <a:p>
                      <a:r>
                        <a:rPr lang="en-IN" dirty="0"/>
                        <a:t>1.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B REVANTH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25B11AI167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Database Design, ER Diagram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21846156"/>
                  </a:ext>
                </a:extLst>
              </a:tr>
              <a:tr h="584200">
                <a:tc>
                  <a:txBody>
                    <a:bodyPr/>
                    <a:lstStyle/>
                    <a:p>
                      <a:r>
                        <a:rPr lang="en-IN" dirty="0"/>
                        <a:t>2.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CH SASANK PAVAN TEJA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25B11AI171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SQL Implementation, Student &amp; </a:t>
                      </a:r>
                      <a:r>
                        <a:rPr lang="en-IN" dirty="0" err="1"/>
                        <a:t>Enrollment</a:t>
                      </a:r>
                      <a:r>
                        <a:rPr lang="en-IN" dirty="0"/>
                        <a:t> Tables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89436737"/>
                  </a:ext>
                </a:extLst>
              </a:tr>
              <a:tr h="584200">
                <a:tc>
                  <a:txBody>
                    <a:bodyPr/>
                    <a:lstStyle/>
                    <a:p>
                      <a:r>
                        <a:rPr lang="en-IN" dirty="0"/>
                        <a:t>3.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R SARASWATHI SAMEERA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25B11AIA07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Course &amp; Result Tables, Testing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12042936"/>
                  </a:ext>
                </a:extLst>
              </a:tr>
              <a:tr h="584200">
                <a:tc>
                  <a:txBody>
                    <a:bodyPr/>
                    <a:lstStyle/>
                    <a:p>
                      <a:r>
                        <a:rPr lang="en-IN" dirty="0"/>
                        <a:t>4.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N YASWANTHI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25B11AI816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Documentation, Normalization, Screenshots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7471141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607726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90750" y="204311"/>
            <a:ext cx="1163002" cy="424338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762000" y="1271272"/>
            <a:ext cx="3032125" cy="594137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389890" indent="-377190">
              <a:lnSpc>
                <a:spcPct val="100000"/>
              </a:lnSpc>
              <a:spcBef>
                <a:spcPts val="130"/>
              </a:spcBef>
              <a:buFont typeface="Cambria"/>
              <a:buAutoNum type="arabicPeriod"/>
              <a:tabLst>
                <a:tab pos="389890" algn="l"/>
              </a:tabLst>
            </a:pPr>
            <a:r>
              <a:rPr lang="en-IN" sz="2000" b="1" spc="-10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Create database tables &amp; constraints</a:t>
            </a:r>
            <a:endParaRPr sz="2000" b="1" dirty="0">
              <a:solidFill>
                <a:schemeClr val="accent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89890" indent="-377190">
              <a:lnSpc>
                <a:spcPct val="100000"/>
              </a:lnSpc>
              <a:spcBef>
                <a:spcPts val="2060"/>
              </a:spcBef>
              <a:buAutoNum type="arabicPeriod"/>
              <a:tabLst>
                <a:tab pos="389890" algn="l"/>
              </a:tabLst>
            </a:pPr>
            <a:r>
              <a:rPr lang="en-IN" sz="2000" b="1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Insert sample data into all tables</a:t>
            </a:r>
          </a:p>
          <a:p>
            <a:pPr marL="389890" indent="-377190">
              <a:lnSpc>
                <a:spcPct val="100000"/>
              </a:lnSpc>
              <a:spcBef>
                <a:spcPts val="2060"/>
              </a:spcBef>
              <a:buAutoNum type="arabicPeriod"/>
              <a:tabLst>
                <a:tab pos="389890" algn="l"/>
              </a:tabLst>
            </a:pPr>
            <a:r>
              <a:rPr lang="en-IN" sz="2000" b="1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Perform DDL, DML, and DQL operations</a:t>
            </a:r>
          </a:p>
          <a:p>
            <a:pPr marL="389890" indent="-377190">
              <a:lnSpc>
                <a:spcPct val="100000"/>
              </a:lnSpc>
              <a:spcBef>
                <a:spcPts val="2060"/>
              </a:spcBef>
              <a:buAutoNum type="arabicPeriod"/>
              <a:tabLst>
                <a:tab pos="389890" algn="l"/>
              </a:tabLst>
            </a:pPr>
            <a:r>
              <a:rPr lang="en-IN" sz="2000" b="1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CRUD operations &amp; SQL queries</a:t>
            </a:r>
          </a:p>
          <a:p>
            <a:pPr marL="389890" indent="-377190">
              <a:lnSpc>
                <a:spcPct val="100000"/>
              </a:lnSpc>
              <a:spcBef>
                <a:spcPts val="2060"/>
              </a:spcBef>
              <a:buAutoNum type="arabicPeriod"/>
              <a:tabLst>
                <a:tab pos="389890" algn="l"/>
              </a:tabLst>
            </a:pPr>
            <a:r>
              <a:rPr lang="en-IN" sz="2000" b="1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Ensure data integrity &amp; validation</a:t>
            </a:r>
          </a:p>
          <a:p>
            <a:pPr marL="389890" indent="-377190">
              <a:lnSpc>
                <a:spcPct val="100000"/>
              </a:lnSpc>
              <a:spcBef>
                <a:spcPts val="2060"/>
              </a:spcBef>
              <a:buAutoNum type="arabicPeriod"/>
              <a:tabLst>
                <a:tab pos="389890" algn="l"/>
              </a:tabLst>
            </a:pPr>
            <a:r>
              <a:rPr lang="en-IN" sz="2000" b="1" spc="50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Complete project documentation</a:t>
            </a:r>
          </a:p>
          <a:p>
            <a:pPr marL="389890" indent="-377190">
              <a:lnSpc>
                <a:spcPct val="100000"/>
              </a:lnSpc>
              <a:spcBef>
                <a:spcPts val="2060"/>
              </a:spcBef>
              <a:buAutoNum type="arabicPeriod"/>
              <a:tabLst>
                <a:tab pos="389890" algn="l"/>
              </a:tabLst>
            </a:pPr>
            <a:r>
              <a:rPr lang="en-IN" sz="2000" b="1" spc="50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Demonstrate &amp; present the database</a:t>
            </a:r>
          </a:p>
        </p:txBody>
      </p:sp>
      <p:grpSp>
        <p:nvGrpSpPr>
          <p:cNvPr id="5" name="object 3"/>
          <p:cNvGrpSpPr/>
          <p:nvPr/>
        </p:nvGrpSpPr>
        <p:grpSpPr>
          <a:xfrm>
            <a:off x="2438400" y="33670"/>
            <a:ext cx="5334000" cy="1198311"/>
            <a:chOff x="2648188" y="47148"/>
            <a:chExt cx="5103904" cy="1198311"/>
          </a:xfrm>
        </p:grpSpPr>
        <p:pic>
          <p:nvPicPr>
            <p:cNvPr id="6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648188" y="47148"/>
              <a:ext cx="5103904" cy="1198311"/>
            </a:xfrm>
            <a:prstGeom prst="rect">
              <a:avLst/>
            </a:prstGeom>
          </p:spPr>
        </p:pic>
        <p:pic>
          <p:nvPicPr>
            <p:cNvPr id="7" name="object 5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703195" y="86439"/>
              <a:ext cx="4997767" cy="1092279"/>
            </a:xfrm>
            <a:prstGeom prst="rect">
              <a:avLst/>
            </a:prstGeom>
          </p:spPr>
        </p:pic>
        <p:pic>
          <p:nvPicPr>
            <p:cNvPr id="8" name="object 6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2828925" y="243549"/>
              <a:ext cx="4585268" cy="522565"/>
            </a:xfrm>
            <a:prstGeom prst="rect">
              <a:avLst/>
            </a:prstGeom>
          </p:spPr>
        </p:pic>
        <p:sp>
          <p:nvSpPr>
            <p:cNvPr id="9" name="object 7"/>
            <p:cNvSpPr/>
            <p:nvPr/>
          </p:nvSpPr>
          <p:spPr>
            <a:xfrm>
              <a:off x="2883931" y="282892"/>
              <a:ext cx="4479290" cy="416559"/>
            </a:xfrm>
            <a:custGeom>
              <a:avLst/>
              <a:gdLst/>
              <a:ahLst/>
              <a:cxnLst/>
              <a:rect l="l" t="t" r="r" b="b"/>
              <a:pathLst>
                <a:path w="4479290" h="416559">
                  <a:moveTo>
                    <a:pt x="4394158" y="0"/>
                  </a:moveTo>
                  <a:lnTo>
                    <a:pt x="84972" y="0"/>
                  </a:lnTo>
                  <a:lnTo>
                    <a:pt x="51863" y="5448"/>
                  </a:lnTo>
                  <a:lnTo>
                    <a:pt x="24831" y="20326"/>
                  </a:lnTo>
                  <a:lnTo>
                    <a:pt x="6705" y="42329"/>
                  </a:lnTo>
                  <a:lnTo>
                    <a:pt x="0" y="69361"/>
                  </a:lnTo>
                  <a:lnTo>
                    <a:pt x="0" y="346910"/>
                  </a:lnTo>
                  <a:lnTo>
                    <a:pt x="6705" y="373941"/>
                  </a:lnTo>
                  <a:lnTo>
                    <a:pt x="24831" y="395944"/>
                  </a:lnTo>
                  <a:lnTo>
                    <a:pt x="51863" y="410822"/>
                  </a:lnTo>
                  <a:lnTo>
                    <a:pt x="84972" y="416271"/>
                  </a:lnTo>
                  <a:lnTo>
                    <a:pt x="4394158" y="416271"/>
                  </a:lnTo>
                  <a:lnTo>
                    <a:pt x="4427267" y="410822"/>
                  </a:lnTo>
                  <a:lnTo>
                    <a:pt x="4454299" y="395944"/>
                  </a:lnTo>
                  <a:lnTo>
                    <a:pt x="4472425" y="373941"/>
                  </a:lnTo>
                  <a:lnTo>
                    <a:pt x="4479131" y="346910"/>
                  </a:lnTo>
                  <a:lnTo>
                    <a:pt x="4479131" y="69361"/>
                  </a:lnTo>
                  <a:lnTo>
                    <a:pt x="4472425" y="42329"/>
                  </a:lnTo>
                  <a:lnTo>
                    <a:pt x="4454299" y="20326"/>
                  </a:lnTo>
                  <a:lnTo>
                    <a:pt x="4427267" y="5448"/>
                  </a:lnTo>
                  <a:lnTo>
                    <a:pt x="4394158" y="0"/>
                  </a:lnTo>
                  <a:close/>
                </a:path>
              </a:pathLst>
            </a:custGeom>
            <a:solidFill>
              <a:srgbClr val="FF66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0" name="object 9"/>
          <p:cNvSpPr txBox="1">
            <a:spLocks/>
          </p:cNvSpPr>
          <p:nvPr/>
        </p:nvSpPr>
        <p:spPr>
          <a:xfrm>
            <a:off x="3241959" y="340819"/>
            <a:ext cx="3562633" cy="278281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>
            <a:lvl1pPr>
              <a:defRPr>
                <a:latin typeface="+mj-lt"/>
                <a:ea typeface="+mj-ea"/>
                <a:cs typeface="+mj-cs"/>
              </a:defRPr>
            </a:lvl1pPr>
          </a:lstStyle>
          <a:p>
            <a:pPr marL="12700" algn="ctr">
              <a:spcBef>
                <a:spcPts val="130"/>
              </a:spcBef>
            </a:pPr>
            <a:r>
              <a:rPr lang="en-IN" sz="17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REVIEW – II : IMPLEMENTATION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994C3EB-A702-D17F-4829-E37569932D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Box 14">
            <a:extLst>
              <a:ext uri="{FF2B5EF4-FFF2-40B4-BE49-F238E27FC236}">
                <a16:creationId xmlns:a16="http://schemas.microsoft.com/office/drawing/2014/main" id="{C94372AF-741E-13F0-7A49-5899AAA88E58}"/>
              </a:ext>
            </a:extLst>
          </p:cNvPr>
          <p:cNvSpPr txBox="1"/>
          <p:nvPr/>
        </p:nvSpPr>
        <p:spPr>
          <a:xfrm>
            <a:off x="4412373" y="321324"/>
            <a:ext cx="5029200" cy="3924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95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IMPLEMENTATION</a:t>
            </a:r>
          </a:p>
        </p:txBody>
      </p:sp>
      <p:pic>
        <p:nvPicPr>
          <p:cNvPr id="17" name="object 3">
            <a:extLst>
              <a:ext uri="{FF2B5EF4-FFF2-40B4-BE49-F238E27FC236}">
                <a16:creationId xmlns:a16="http://schemas.microsoft.com/office/drawing/2014/main" id="{A1EEC003-D96B-9878-B867-CB3E416DA499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90750" y="204311"/>
            <a:ext cx="1163002" cy="424338"/>
          </a:xfrm>
          <a:prstGeom prst="rect">
            <a:avLst/>
          </a:prstGeom>
        </p:spPr>
      </p:pic>
      <p:grpSp>
        <p:nvGrpSpPr>
          <p:cNvPr id="2" name="object 3">
            <a:extLst>
              <a:ext uri="{FF2B5EF4-FFF2-40B4-BE49-F238E27FC236}">
                <a16:creationId xmlns:a16="http://schemas.microsoft.com/office/drawing/2014/main" id="{444C8BDC-1408-2F08-ECFE-24342F99259F}"/>
              </a:ext>
            </a:extLst>
          </p:cNvPr>
          <p:cNvGrpSpPr/>
          <p:nvPr/>
        </p:nvGrpSpPr>
        <p:grpSpPr>
          <a:xfrm>
            <a:off x="2542600" y="-92234"/>
            <a:ext cx="5103904" cy="1198311"/>
            <a:chOff x="2648188" y="47148"/>
            <a:chExt cx="5103904" cy="1198311"/>
          </a:xfrm>
        </p:grpSpPr>
        <p:pic>
          <p:nvPicPr>
            <p:cNvPr id="3" name="object 4">
              <a:extLst>
                <a:ext uri="{FF2B5EF4-FFF2-40B4-BE49-F238E27FC236}">
                  <a16:creationId xmlns:a16="http://schemas.microsoft.com/office/drawing/2014/main" id="{486D7949-B407-1EA2-DD79-8A477F1C214A}"/>
                </a:ext>
              </a:extLst>
            </p:cNvPr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648188" y="47148"/>
              <a:ext cx="5103904" cy="1198311"/>
            </a:xfrm>
            <a:prstGeom prst="rect">
              <a:avLst/>
            </a:prstGeom>
          </p:spPr>
        </p:pic>
        <p:pic>
          <p:nvPicPr>
            <p:cNvPr id="4" name="object 5">
              <a:extLst>
                <a:ext uri="{FF2B5EF4-FFF2-40B4-BE49-F238E27FC236}">
                  <a16:creationId xmlns:a16="http://schemas.microsoft.com/office/drawing/2014/main" id="{AF19115A-194D-B4F3-FDC6-80C7A9EAC643}"/>
                </a:ext>
              </a:extLst>
            </p:cNvPr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703195" y="86439"/>
              <a:ext cx="4997767" cy="1092279"/>
            </a:xfrm>
            <a:prstGeom prst="rect">
              <a:avLst/>
            </a:prstGeom>
          </p:spPr>
        </p:pic>
        <p:pic>
          <p:nvPicPr>
            <p:cNvPr id="5" name="object 6">
              <a:extLst>
                <a:ext uri="{FF2B5EF4-FFF2-40B4-BE49-F238E27FC236}">
                  <a16:creationId xmlns:a16="http://schemas.microsoft.com/office/drawing/2014/main" id="{E665D128-267F-2426-96EF-5BA2DC13C642}"/>
                </a:ext>
              </a:extLst>
            </p:cNvPr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2828925" y="243549"/>
              <a:ext cx="4585268" cy="522565"/>
            </a:xfrm>
            <a:prstGeom prst="rect">
              <a:avLst/>
            </a:prstGeom>
          </p:spPr>
        </p:pic>
        <p:sp>
          <p:nvSpPr>
            <p:cNvPr id="6" name="object 7">
              <a:extLst>
                <a:ext uri="{FF2B5EF4-FFF2-40B4-BE49-F238E27FC236}">
                  <a16:creationId xmlns:a16="http://schemas.microsoft.com/office/drawing/2014/main" id="{CBF6A033-32D1-951A-E7A6-E89336F7E40B}"/>
                </a:ext>
              </a:extLst>
            </p:cNvPr>
            <p:cNvSpPr/>
            <p:nvPr/>
          </p:nvSpPr>
          <p:spPr>
            <a:xfrm>
              <a:off x="2883931" y="282892"/>
              <a:ext cx="4479290" cy="416559"/>
            </a:xfrm>
            <a:custGeom>
              <a:avLst/>
              <a:gdLst/>
              <a:ahLst/>
              <a:cxnLst/>
              <a:rect l="l" t="t" r="r" b="b"/>
              <a:pathLst>
                <a:path w="4479290" h="416559">
                  <a:moveTo>
                    <a:pt x="4394158" y="0"/>
                  </a:moveTo>
                  <a:lnTo>
                    <a:pt x="84972" y="0"/>
                  </a:lnTo>
                  <a:lnTo>
                    <a:pt x="51863" y="5448"/>
                  </a:lnTo>
                  <a:lnTo>
                    <a:pt x="24831" y="20326"/>
                  </a:lnTo>
                  <a:lnTo>
                    <a:pt x="6705" y="42329"/>
                  </a:lnTo>
                  <a:lnTo>
                    <a:pt x="0" y="69361"/>
                  </a:lnTo>
                  <a:lnTo>
                    <a:pt x="0" y="346910"/>
                  </a:lnTo>
                  <a:lnTo>
                    <a:pt x="6705" y="373941"/>
                  </a:lnTo>
                  <a:lnTo>
                    <a:pt x="24831" y="395944"/>
                  </a:lnTo>
                  <a:lnTo>
                    <a:pt x="51863" y="410822"/>
                  </a:lnTo>
                  <a:lnTo>
                    <a:pt x="84972" y="416271"/>
                  </a:lnTo>
                  <a:lnTo>
                    <a:pt x="4394158" y="416271"/>
                  </a:lnTo>
                  <a:lnTo>
                    <a:pt x="4427267" y="410822"/>
                  </a:lnTo>
                  <a:lnTo>
                    <a:pt x="4454299" y="395944"/>
                  </a:lnTo>
                  <a:lnTo>
                    <a:pt x="4472425" y="373941"/>
                  </a:lnTo>
                  <a:lnTo>
                    <a:pt x="4479131" y="346910"/>
                  </a:lnTo>
                  <a:lnTo>
                    <a:pt x="4479131" y="69361"/>
                  </a:lnTo>
                  <a:lnTo>
                    <a:pt x="4472425" y="42329"/>
                  </a:lnTo>
                  <a:lnTo>
                    <a:pt x="4454299" y="20326"/>
                  </a:lnTo>
                  <a:lnTo>
                    <a:pt x="4427267" y="5448"/>
                  </a:lnTo>
                  <a:lnTo>
                    <a:pt x="4394158" y="0"/>
                  </a:lnTo>
                  <a:close/>
                </a:path>
              </a:pathLst>
            </a:custGeom>
            <a:solidFill>
              <a:srgbClr val="FF6600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</p:grpSp>
      <p:sp>
        <p:nvSpPr>
          <p:cNvPr id="7" name="TextBox 6">
            <a:extLst>
              <a:ext uri="{FF2B5EF4-FFF2-40B4-BE49-F238E27FC236}">
                <a16:creationId xmlns:a16="http://schemas.microsoft.com/office/drawing/2014/main" id="{0A3D4540-9EF3-DE22-0F98-4B4BAC3FACC2}"/>
              </a:ext>
            </a:extLst>
          </p:cNvPr>
          <p:cNvSpPr txBox="1"/>
          <p:nvPr/>
        </p:nvSpPr>
        <p:spPr>
          <a:xfrm>
            <a:off x="3148920" y="142755"/>
            <a:ext cx="5029200" cy="3924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95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DATABASE &amp; CONSTRAINTS</a:t>
            </a:r>
          </a:p>
        </p:txBody>
      </p:sp>
      <p:pic>
        <p:nvPicPr>
          <p:cNvPr id="12" name="Graphic 11" descr="Database with solid fill">
            <a:extLst>
              <a:ext uri="{FF2B5EF4-FFF2-40B4-BE49-F238E27FC236}">
                <a16:creationId xmlns:a16="http://schemas.microsoft.com/office/drawing/2014/main" id="{5078F048-7E7C-733D-E7AD-BDE8B1ECE41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2841861" y="3222715"/>
            <a:ext cx="2683205" cy="2683205"/>
          </a:xfrm>
          <a:prstGeom prst="rect">
            <a:avLst/>
          </a:prstGeom>
        </p:spPr>
      </p:pic>
      <p:sp>
        <p:nvSpPr>
          <p:cNvPr id="19" name="TextBox 18">
            <a:extLst>
              <a:ext uri="{FF2B5EF4-FFF2-40B4-BE49-F238E27FC236}">
                <a16:creationId xmlns:a16="http://schemas.microsoft.com/office/drawing/2014/main" id="{C2055259-6373-7E31-3DB9-3C170F7D7CD1}"/>
              </a:ext>
            </a:extLst>
          </p:cNvPr>
          <p:cNvSpPr txBox="1"/>
          <p:nvPr/>
        </p:nvSpPr>
        <p:spPr>
          <a:xfrm>
            <a:off x="3680761" y="3516868"/>
            <a:ext cx="100540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chemeClr val="bg1"/>
                </a:solidFill>
              </a:rPr>
              <a:t>MYSQL</a:t>
            </a:r>
            <a:endParaRPr lang="en-IN" b="1" dirty="0">
              <a:solidFill>
                <a:schemeClr val="bg1"/>
              </a:solidFill>
            </a:endParaRPr>
          </a:p>
        </p:txBody>
      </p:sp>
      <p:cxnSp>
        <p:nvCxnSpPr>
          <p:cNvPr id="29" name="Connector: Elbow 28">
            <a:extLst>
              <a:ext uri="{FF2B5EF4-FFF2-40B4-BE49-F238E27FC236}">
                <a16:creationId xmlns:a16="http://schemas.microsoft.com/office/drawing/2014/main" id="{2EEAEF62-BCAC-3BF9-CBB1-DE3637CF62EF}"/>
              </a:ext>
            </a:extLst>
          </p:cNvPr>
          <p:cNvCxnSpPr>
            <a:cxnSpLocks/>
          </p:cNvCxnSpPr>
          <p:nvPr/>
        </p:nvCxnSpPr>
        <p:spPr>
          <a:xfrm>
            <a:off x="4990817" y="5351259"/>
            <a:ext cx="1448366" cy="838200"/>
          </a:xfrm>
          <a:prstGeom prst="bentConnector3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Rectangle: Rounded Corners 31">
            <a:extLst>
              <a:ext uri="{FF2B5EF4-FFF2-40B4-BE49-F238E27FC236}">
                <a16:creationId xmlns:a16="http://schemas.microsoft.com/office/drawing/2014/main" id="{5AB901D6-1FD0-D200-7281-CBD22B75CCBB}"/>
              </a:ext>
            </a:extLst>
          </p:cNvPr>
          <p:cNvSpPr/>
          <p:nvPr/>
        </p:nvSpPr>
        <p:spPr>
          <a:xfrm>
            <a:off x="6439182" y="5963997"/>
            <a:ext cx="3314417" cy="1585071"/>
          </a:xfrm>
          <a:prstGeom prst="round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0A607713-9B60-98EF-4081-BFE65C8132CF}"/>
              </a:ext>
            </a:extLst>
          </p:cNvPr>
          <p:cNvSpPr txBox="1"/>
          <p:nvPr/>
        </p:nvSpPr>
        <p:spPr>
          <a:xfrm>
            <a:off x="3435504" y="4038600"/>
            <a:ext cx="149591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bg1"/>
                </a:solidFill>
              </a:rPr>
              <a:t>University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17E63FDC-69FF-0F4C-A676-E9C1DF5423AB}"/>
              </a:ext>
            </a:extLst>
          </p:cNvPr>
          <p:cNvSpPr txBox="1"/>
          <p:nvPr/>
        </p:nvSpPr>
        <p:spPr>
          <a:xfrm>
            <a:off x="3407739" y="4602928"/>
            <a:ext cx="127470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chemeClr val="bg1"/>
                </a:solidFill>
              </a:rPr>
              <a:t>Academic</a:t>
            </a:r>
            <a:endParaRPr lang="en-IN" b="1" dirty="0">
              <a:solidFill>
                <a:schemeClr val="bg1"/>
              </a:solidFill>
            </a:endParaRP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4DBC2495-4389-4F4B-C5BC-7CA1DC70A75C}"/>
              </a:ext>
            </a:extLst>
          </p:cNvPr>
          <p:cNvSpPr txBox="1"/>
          <p:nvPr/>
        </p:nvSpPr>
        <p:spPr>
          <a:xfrm>
            <a:off x="3462566" y="5167256"/>
            <a:ext cx="121058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chemeClr val="bg1"/>
                </a:solidFill>
              </a:rPr>
              <a:t>Database</a:t>
            </a:r>
            <a:endParaRPr lang="en-IN" b="1" dirty="0">
              <a:solidFill>
                <a:schemeClr val="bg1"/>
              </a:solidFill>
            </a:endParaRPr>
          </a:p>
        </p:txBody>
      </p:sp>
      <p:pic>
        <p:nvPicPr>
          <p:cNvPr id="36" name="Graphic 35" descr="Checkmark with solid fill">
            <a:extLst>
              <a:ext uri="{FF2B5EF4-FFF2-40B4-BE49-F238E27FC236}">
                <a16:creationId xmlns:a16="http://schemas.microsoft.com/office/drawing/2014/main" id="{E5AE6BAA-7F06-D259-C590-AB7CEB8F2EF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6308871" y="773096"/>
            <a:ext cx="353686" cy="320973"/>
          </a:xfrm>
          <a:prstGeom prst="rect">
            <a:avLst/>
          </a:prstGeom>
        </p:spPr>
      </p:pic>
      <p:sp>
        <p:nvSpPr>
          <p:cNvPr id="38" name="TextBox 37">
            <a:extLst>
              <a:ext uri="{FF2B5EF4-FFF2-40B4-BE49-F238E27FC236}">
                <a16:creationId xmlns:a16="http://schemas.microsoft.com/office/drawing/2014/main" id="{2075B6F7-19F9-B17F-6133-32EA355D87F5}"/>
              </a:ext>
            </a:extLst>
          </p:cNvPr>
          <p:cNvSpPr txBox="1"/>
          <p:nvPr/>
        </p:nvSpPr>
        <p:spPr>
          <a:xfrm>
            <a:off x="6647391" y="762547"/>
            <a:ext cx="50292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>
                <a:solidFill>
                  <a:schemeClr val="accent6"/>
                </a:solidFill>
              </a:rPr>
              <a:t>CONSTRAINTS USED</a:t>
            </a:r>
            <a:endParaRPr lang="en-IN" b="1" dirty="0">
              <a:solidFill>
                <a:schemeClr val="accent6"/>
              </a:solidFill>
            </a:endParaRPr>
          </a:p>
        </p:txBody>
      </p:sp>
      <p:cxnSp>
        <p:nvCxnSpPr>
          <p:cNvPr id="42" name="Straight Arrow Connector 41">
            <a:extLst>
              <a:ext uri="{FF2B5EF4-FFF2-40B4-BE49-F238E27FC236}">
                <a16:creationId xmlns:a16="http://schemas.microsoft.com/office/drawing/2014/main" id="{1D8FB5FD-CBCE-A160-1321-C7C512D56D9C}"/>
              </a:ext>
            </a:extLst>
          </p:cNvPr>
          <p:cNvCxnSpPr>
            <a:cxnSpLocks/>
          </p:cNvCxnSpPr>
          <p:nvPr/>
        </p:nvCxnSpPr>
        <p:spPr>
          <a:xfrm>
            <a:off x="4990817" y="4602928"/>
            <a:ext cx="1100127" cy="0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5" name="Rectangle: Rounded Corners 44">
            <a:extLst>
              <a:ext uri="{FF2B5EF4-FFF2-40B4-BE49-F238E27FC236}">
                <a16:creationId xmlns:a16="http://schemas.microsoft.com/office/drawing/2014/main" id="{E28333A3-4439-7230-1DE1-BAA25F6B4974}"/>
              </a:ext>
            </a:extLst>
          </p:cNvPr>
          <p:cNvSpPr/>
          <p:nvPr/>
        </p:nvSpPr>
        <p:spPr>
          <a:xfrm>
            <a:off x="6145771" y="3813177"/>
            <a:ext cx="2590234" cy="1761037"/>
          </a:xfrm>
          <a:prstGeom prst="round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cxnSp>
        <p:nvCxnSpPr>
          <p:cNvPr id="51" name="Connector: Elbow 50">
            <a:extLst>
              <a:ext uri="{FF2B5EF4-FFF2-40B4-BE49-F238E27FC236}">
                <a16:creationId xmlns:a16="http://schemas.microsoft.com/office/drawing/2014/main" id="{3FB1777E-BC55-C884-3AB4-C179C2E7BD77}"/>
              </a:ext>
            </a:extLst>
          </p:cNvPr>
          <p:cNvCxnSpPr>
            <a:cxnSpLocks/>
          </p:cNvCxnSpPr>
          <p:nvPr/>
        </p:nvCxnSpPr>
        <p:spPr>
          <a:xfrm flipV="1">
            <a:off x="2645051" y="5351259"/>
            <a:ext cx="692959" cy="690259"/>
          </a:xfrm>
          <a:prstGeom prst="bentConnector3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4" name="Rectangle: Rounded Corners 53">
            <a:extLst>
              <a:ext uri="{FF2B5EF4-FFF2-40B4-BE49-F238E27FC236}">
                <a16:creationId xmlns:a16="http://schemas.microsoft.com/office/drawing/2014/main" id="{EBB5B95D-7BB0-EF76-8F31-2A454EEC8045}"/>
              </a:ext>
            </a:extLst>
          </p:cNvPr>
          <p:cNvSpPr/>
          <p:nvPr/>
        </p:nvSpPr>
        <p:spPr>
          <a:xfrm>
            <a:off x="2971517" y="6142470"/>
            <a:ext cx="2590234" cy="1585071"/>
          </a:xfrm>
          <a:prstGeom prst="round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5" name="Rectangle: Rounded Corners 54">
            <a:extLst>
              <a:ext uri="{FF2B5EF4-FFF2-40B4-BE49-F238E27FC236}">
                <a16:creationId xmlns:a16="http://schemas.microsoft.com/office/drawing/2014/main" id="{FD1F5E37-11E9-491C-51C6-1A3653086CCE}"/>
              </a:ext>
            </a:extLst>
          </p:cNvPr>
          <p:cNvSpPr/>
          <p:nvPr/>
        </p:nvSpPr>
        <p:spPr>
          <a:xfrm>
            <a:off x="131773" y="3615396"/>
            <a:ext cx="2590234" cy="1871004"/>
          </a:xfrm>
          <a:prstGeom prst="round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6" name="Rectangle: Rounded Corners 55">
            <a:extLst>
              <a:ext uri="{FF2B5EF4-FFF2-40B4-BE49-F238E27FC236}">
                <a16:creationId xmlns:a16="http://schemas.microsoft.com/office/drawing/2014/main" id="{C99715EC-CB5F-A40F-6E36-51293BC125F6}"/>
              </a:ext>
            </a:extLst>
          </p:cNvPr>
          <p:cNvSpPr/>
          <p:nvPr/>
        </p:nvSpPr>
        <p:spPr>
          <a:xfrm>
            <a:off x="115148" y="1322610"/>
            <a:ext cx="2590234" cy="1585071"/>
          </a:xfrm>
          <a:prstGeom prst="round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 dirty="0">
              <a:solidFill>
                <a:schemeClr val="accent6"/>
              </a:solidFill>
            </a:endParaRPr>
          </a:p>
        </p:txBody>
      </p:sp>
      <p:sp>
        <p:nvSpPr>
          <p:cNvPr id="57" name="Rectangle: Rounded Corners 56">
            <a:extLst>
              <a:ext uri="{FF2B5EF4-FFF2-40B4-BE49-F238E27FC236}">
                <a16:creationId xmlns:a16="http://schemas.microsoft.com/office/drawing/2014/main" id="{970F3B6E-128B-71A1-39D0-B5394E168648}"/>
              </a:ext>
            </a:extLst>
          </p:cNvPr>
          <p:cNvSpPr/>
          <p:nvPr/>
        </p:nvSpPr>
        <p:spPr>
          <a:xfrm>
            <a:off x="2978951" y="1226172"/>
            <a:ext cx="2278283" cy="1585071"/>
          </a:xfrm>
          <a:prstGeom prst="round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8" name="Rectangle: Rounded Corners 57">
            <a:extLst>
              <a:ext uri="{FF2B5EF4-FFF2-40B4-BE49-F238E27FC236}">
                <a16:creationId xmlns:a16="http://schemas.microsoft.com/office/drawing/2014/main" id="{52EF38C9-C577-CCA6-1683-8287663318B5}"/>
              </a:ext>
            </a:extLst>
          </p:cNvPr>
          <p:cNvSpPr/>
          <p:nvPr/>
        </p:nvSpPr>
        <p:spPr>
          <a:xfrm>
            <a:off x="90873" y="5801953"/>
            <a:ext cx="2590011" cy="1524733"/>
          </a:xfrm>
          <a:prstGeom prst="round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cxnSp>
        <p:nvCxnSpPr>
          <p:cNvPr id="60" name="Straight Arrow Connector 59">
            <a:extLst>
              <a:ext uri="{FF2B5EF4-FFF2-40B4-BE49-F238E27FC236}">
                <a16:creationId xmlns:a16="http://schemas.microsoft.com/office/drawing/2014/main" id="{C0C50C08-9E40-EEA3-D324-072A48BC8D33}"/>
              </a:ext>
            </a:extLst>
          </p:cNvPr>
          <p:cNvCxnSpPr>
            <a:cxnSpLocks/>
          </p:cNvCxnSpPr>
          <p:nvPr/>
        </p:nvCxnSpPr>
        <p:spPr>
          <a:xfrm>
            <a:off x="4171049" y="2795084"/>
            <a:ext cx="12413" cy="674792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0" name="Connector: Curved 69">
            <a:extLst>
              <a:ext uri="{FF2B5EF4-FFF2-40B4-BE49-F238E27FC236}">
                <a16:creationId xmlns:a16="http://schemas.microsoft.com/office/drawing/2014/main" id="{24D71058-83FE-5908-E522-C0438D223148}"/>
              </a:ext>
            </a:extLst>
          </p:cNvPr>
          <p:cNvCxnSpPr>
            <a:cxnSpLocks/>
            <a:stCxn id="56" idx="2"/>
          </p:cNvCxnSpPr>
          <p:nvPr/>
        </p:nvCxnSpPr>
        <p:spPr>
          <a:xfrm rot="16200000" flipH="1">
            <a:off x="2047460" y="2270486"/>
            <a:ext cx="686871" cy="1961260"/>
          </a:xfrm>
          <a:prstGeom prst="curvedConnector2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2" name="Straight Arrow Connector 71">
            <a:extLst>
              <a:ext uri="{FF2B5EF4-FFF2-40B4-BE49-F238E27FC236}">
                <a16:creationId xmlns:a16="http://schemas.microsoft.com/office/drawing/2014/main" id="{154D690A-1F00-293E-B3ED-D9689FB7BAC2}"/>
              </a:ext>
            </a:extLst>
          </p:cNvPr>
          <p:cNvCxnSpPr>
            <a:cxnSpLocks/>
            <a:stCxn id="55" idx="3"/>
          </p:cNvCxnSpPr>
          <p:nvPr/>
        </p:nvCxnSpPr>
        <p:spPr>
          <a:xfrm flipV="1">
            <a:off x="2722007" y="4547106"/>
            <a:ext cx="616003" cy="3792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5" name="Straight Arrow Connector 74">
            <a:extLst>
              <a:ext uri="{FF2B5EF4-FFF2-40B4-BE49-F238E27FC236}">
                <a16:creationId xmlns:a16="http://schemas.microsoft.com/office/drawing/2014/main" id="{85451F78-A6C0-EFB3-B0D3-78B009868C1E}"/>
              </a:ext>
            </a:extLst>
          </p:cNvPr>
          <p:cNvCxnSpPr>
            <a:cxnSpLocks/>
          </p:cNvCxnSpPr>
          <p:nvPr/>
        </p:nvCxnSpPr>
        <p:spPr>
          <a:xfrm>
            <a:off x="4262351" y="5679462"/>
            <a:ext cx="0" cy="410886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9" name="Rectangle: Rounded Corners 78">
            <a:extLst>
              <a:ext uri="{FF2B5EF4-FFF2-40B4-BE49-F238E27FC236}">
                <a16:creationId xmlns:a16="http://schemas.microsoft.com/office/drawing/2014/main" id="{F2F8B881-5EBB-926C-374B-224A0CF592A4}"/>
              </a:ext>
            </a:extLst>
          </p:cNvPr>
          <p:cNvSpPr/>
          <p:nvPr/>
        </p:nvSpPr>
        <p:spPr>
          <a:xfrm>
            <a:off x="121618" y="1120748"/>
            <a:ext cx="2590234" cy="451216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endParaRPr lang="en-IN" b="1" dirty="0"/>
          </a:p>
        </p:txBody>
      </p:sp>
      <p:sp>
        <p:nvSpPr>
          <p:cNvPr id="80" name="Rectangle: Rounded Corners 79">
            <a:extLst>
              <a:ext uri="{FF2B5EF4-FFF2-40B4-BE49-F238E27FC236}">
                <a16:creationId xmlns:a16="http://schemas.microsoft.com/office/drawing/2014/main" id="{7B91260A-7D75-A0EA-E20B-BE8D330C3ADE}"/>
              </a:ext>
            </a:extLst>
          </p:cNvPr>
          <p:cNvSpPr/>
          <p:nvPr/>
        </p:nvSpPr>
        <p:spPr>
          <a:xfrm>
            <a:off x="6145771" y="3766042"/>
            <a:ext cx="2590234" cy="451216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81" name="Rectangle: Rounded Corners 80">
            <a:extLst>
              <a:ext uri="{FF2B5EF4-FFF2-40B4-BE49-F238E27FC236}">
                <a16:creationId xmlns:a16="http://schemas.microsoft.com/office/drawing/2014/main" id="{8953ECB4-8246-816C-B39A-BA51537D92B3}"/>
              </a:ext>
            </a:extLst>
          </p:cNvPr>
          <p:cNvSpPr/>
          <p:nvPr/>
        </p:nvSpPr>
        <p:spPr>
          <a:xfrm>
            <a:off x="6442741" y="5768766"/>
            <a:ext cx="3310858" cy="476405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82" name="Rectangle: Rounded Corners 81">
            <a:extLst>
              <a:ext uri="{FF2B5EF4-FFF2-40B4-BE49-F238E27FC236}">
                <a16:creationId xmlns:a16="http://schemas.microsoft.com/office/drawing/2014/main" id="{8700AF22-3C5F-073F-69E3-5E1033ED6D67}"/>
              </a:ext>
            </a:extLst>
          </p:cNvPr>
          <p:cNvSpPr/>
          <p:nvPr/>
        </p:nvSpPr>
        <p:spPr>
          <a:xfrm>
            <a:off x="2975075" y="6143273"/>
            <a:ext cx="2590234" cy="451216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83" name="Rectangle: Rounded Corners 82">
            <a:extLst>
              <a:ext uri="{FF2B5EF4-FFF2-40B4-BE49-F238E27FC236}">
                <a16:creationId xmlns:a16="http://schemas.microsoft.com/office/drawing/2014/main" id="{7A0BCCF5-22EB-69CB-CE21-FBDCDE082DBE}"/>
              </a:ext>
            </a:extLst>
          </p:cNvPr>
          <p:cNvSpPr/>
          <p:nvPr/>
        </p:nvSpPr>
        <p:spPr>
          <a:xfrm>
            <a:off x="128999" y="3614875"/>
            <a:ext cx="2590234" cy="451216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87" name="Rectangle: Rounded Corners 86">
            <a:extLst>
              <a:ext uri="{FF2B5EF4-FFF2-40B4-BE49-F238E27FC236}">
                <a16:creationId xmlns:a16="http://schemas.microsoft.com/office/drawing/2014/main" id="{70F91609-A964-AD21-1790-806C36A49E0F}"/>
              </a:ext>
            </a:extLst>
          </p:cNvPr>
          <p:cNvSpPr/>
          <p:nvPr/>
        </p:nvSpPr>
        <p:spPr>
          <a:xfrm>
            <a:off x="2971517" y="1130904"/>
            <a:ext cx="2285717" cy="396307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88" name="Rectangle: Rounded Corners 87">
            <a:extLst>
              <a:ext uri="{FF2B5EF4-FFF2-40B4-BE49-F238E27FC236}">
                <a16:creationId xmlns:a16="http://schemas.microsoft.com/office/drawing/2014/main" id="{111961B3-CF29-9F2F-8BDA-47E381027FDB}"/>
              </a:ext>
            </a:extLst>
          </p:cNvPr>
          <p:cNvSpPr/>
          <p:nvPr/>
        </p:nvSpPr>
        <p:spPr>
          <a:xfrm>
            <a:off x="76568" y="5741242"/>
            <a:ext cx="2590010" cy="461964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90" name="Graphic 89" descr="User with solid fill">
            <a:extLst>
              <a:ext uri="{FF2B5EF4-FFF2-40B4-BE49-F238E27FC236}">
                <a16:creationId xmlns:a16="http://schemas.microsoft.com/office/drawing/2014/main" id="{25F07397-28F4-B43B-1004-D6E4F4C5775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3039332" y="6149070"/>
            <a:ext cx="406768" cy="406768"/>
          </a:xfrm>
          <a:prstGeom prst="rect">
            <a:avLst/>
          </a:prstGeom>
        </p:spPr>
      </p:pic>
      <p:pic>
        <p:nvPicPr>
          <p:cNvPr id="92" name="Graphic 91" descr="Books with solid fill">
            <a:extLst>
              <a:ext uri="{FF2B5EF4-FFF2-40B4-BE49-F238E27FC236}">
                <a16:creationId xmlns:a16="http://schemas.microsoft.com/office/drawing/2014/main" id="{89B6FD96-711C-7BC6-00FD-395D244471F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266952" y="3614219"/>
            <a:ext cx="424381" cy="424381"/>
          </a:xfrm>
          <a:prstGeom prst="rect">
            <a:avLst/>
          </a:prstGeom>
        </p:spPr>
      </p:pic>
      <p:pic>
        <p:nvPicPr>
          <p:cNvPr id="94" name="Graphic 93" descr="Graduation cap with solid fill">
            <a:extLst>
              <a:ext uri="{FF2B5EF4-FFF2-40B4-BE49-F238E27FC236}">
                <a16:creationId xmlns:a16="http://schemas.microsoft.com/office/drawing/2014/main" id="{D115AEBA-9050-5264-58CD-0BA4EE967AE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2990892" y="1114607"/>
            <a:ext cx="419015" cy="419015"/>
          </a:xfrm>
          <a:prstGeom prst="rect">
            <a:avLst/>
          </a:prstGeom>
        </p:spPr>
      </p:pic>
      <p:pic>
        <p:nvPicPr>
          <p:cNvPr id="96" name="Graphic 95" descr="Smart Phone with solid fill">
            <a:extLst>
              <a:ext uri="{FF2B5EF4-FFF2-40B4-BE49-F238E27FC236}">
                <a16:creationId xmlns:a16="http://schemas.microsoft.com/office/drawing/2014/main" id="{5420EA00-564E-E71F-5E0F-D576B204862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6476150" y="5820030"/>
            <a:ext cx="327574" cy="327574"/>
          </a:xfrm>
          <a:prstGeom prst="rect">
            <a:avLst/>
          </a:prstGeom>
        </p:spPr>
      </p:pic>
      <p:pic>
        <p:nvPicPr>
          <p:cNvPr id="98" name="Graphic 97" descr="Users with solid fill">
            <a:extLst>
              <a:ext uri="{FF2B5EF4-FFF2-40B4-BE49-F238E27FC236}">
                <a16:creationId xmlns:a16="http://schemas.microsoft.com/office/drawing/2014/main" id="{377A2862-7320-8B6E-022A-D4C0717F4C8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6244515" y="3753987"/>
            <a:ext cx="463271" cy="463271"/>
          </a:xfrm>
          <a:prstGeom prst="rect">
            <a:avLst/>
          </a:prstGeom>
        </p:spPr>
      </p:pic>
      <p:pic>
        <p:nvPicPr>
          <p:cNvPr id="100" name="Graphic 99" descr="Bar graph with upward trend with solid fill">
            <a:extLst>
              <a:ext uri="{FF2B5EF4-FFF2-40B4-BE49-F238E27FC236}">
                <a16:creationId xmlns:a16="http://schemas.microsoft.com/office/drawing/2014/main" id="{FE258B9F-075E-90CA-963D-D0CE11EC9BB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204848" y="1135157"/>
            <a:ext cx="430473" cy="430473"/>
          </a:xfrm>
          <a:prstGeom prst="rect">
            <a:avLst/>
          </a:prstGeom>
        </p:spPr>
      </p:pic>
      <p:pic>
        <p:nvPicPr>
          <p:cNvPr id="104" name="Graphic 103" descr="House with solid fill">
            <a:extLst>
              <a:ext uri="{FF2B5EF4-FFF2-40B4-BE49-F238E27FC236}">
                <a16:creationId xmlns:a16="http://schemas.microsoft.com/office/drawing/2014/main" id="{FF483386-AFC8-1E41-D675-D1741BCEB3D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142617" y="5711306"/>
            <a:ext cx="461965" cy="461965"/>
          </a:xfrm>
          <a:prstGeom prst="rect">
            <a:avLst/>
          </a:prstGeom>
        </p:spPr>
      </p:pic>
      <p:sp>
        <p:nvSpPr>
          <p:cNvPr id="105" name="TextBox 104">
            <a:extLst>
              <a:ext uri="{FF2B5EF4-FFF2-40B4-BE49-F238E27FC236}">
                <a16:creationId xmlns:a16="http://schemas.microsoft.com/office/drawing/2014/main" id="{19DE6F52-D1E7-3AF4-96C8-487DCB6720D2}"/>
              </a:ext>
            </a:extLst>
          </p:cNvPr>
          <p:cNvSpPr txBox="1"/>
          <p:nvPr/>
        </p:nvSpPr>
        <p:spPr>
          <a:xfrm>
            <a:off x="548390" y="5769751"/>
            <a:ext cx="146706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chemeClr val="bg1"/>
                </a:solidFill>
              </a:rPr>
              <a:t>Department</a:t>
            </a:r>
            <a:endParaRPr lang="en-IN" b="1" dirty="0">
              <a:solidFill>
                <a:schemeClr val="bg1"/>
              </a:solidFill>
            </a:endParaRPr>
          </a:p>
        </p:txBody>
      </p:sp>
      <p:sp>
        <p:nvSpPr>
          <p:cNvPr id="106" name="TextBox 105">
            <a:extLst>
              <a:ext uri="{FF2B5EF4-FFF2-40B4-BE49-F238E27FC236}">
                <a16:creationId xmlns:a16="http://schemas.microsoft.com/office/drawing/2014/main" id="{E582B4D5-D823-5166-74B4-CBCBD17A1B04}"/>
              </a:ext>
            </a:extLst>
          </p:cNvPr>
          <p:cNvSpPr txBox="1"/>
          <p:nvPr/>
        </p:nvSpPr>
        <p:spPr>
          <a:xfrm>
            <a:off x="617295" y="1154137"/>
            <a:ext cx="101822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chemeClr val="bg1"/>
                </a:solidFill>
              </a:rPr>
              <a:t>Results</a:t>
            </a:r>
            <a:endParaRPr lang="en-IN" b="1" dirty="0">
              <a:solidFill>
                <a:schemeClr val="bg1"/>
              </a:solidFill>
            </a:endParaRPr>
          </a:p>
        </p:txBody>
      </p:sp>
      <p:sp>
        <p:nvSpPr>
          <p:cNvPr id="107" name="TextBox 106">
            <a:extLst>
              <a:ext uri="{FF2B5EF4-FFF2-40B4-BE49-F238E27FC236}">
                <a16:creationId xmlns:a16="http://schemas.microsoft.com/office/drawing/2014/main" id="{24CDCA62-BF8E-A92A-FE55-0FAD398EFF9D}"/>
              </a:ext>
            </a:extLst>
          </p:cNvPr>
          <p:cNvSpPr txBox="1"/>
          <p:nvPr/>
        </p:nvSpPr>
        <p:spPr>
          <a:xfrm>
            <a:off x="3390075" y="1161790"/>
            <a:ext cx="104387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chemeClr val="bg1"/>
                </a:solidFill>
              </a:rPr>
              <a:t>Student</a:t>
            </a:r>
            <a:endParaRPr lang="en-IN" b="1" dirty="0">
              <a:solidFill>
                <a:schemeClr val="bg1"/>
              </a:solidFill>
            </a:endParaRPr>
          </a:p>
        </p:txBody>
      </p:sp>
      <p:sp>
        <p:nvSpPr>
          <p:cNvPr id="108" name="TextBox 107">
            <a:extLst>
              <a:ext uri="{FF2B5EF4-FFF2-40B4-BE49-F238E27FC236}">
                <a16:creationId xmlns:a16="http://schemas.microsoft.com/office/drawing/2014/main" id="{A7333D85-76BE-42DB-485C-D7E2158451BE}"/>
              </a:ext>
            </a:extLst>
          </p:cNvPr>
          <p:cNvSpPr txBox="1"/>
          <p:nvPr/>
        </p:nvSpPr>
        <p:spPr>
          <a:xfrm>
            <a:off x="621578" y="3626951"/>
            <a:ext cx="97975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chemeClr val="bg1"/>
                </a:solidFill>
              </a:rPr>
              <a:t>Course</a:t>
            </a:r>
            <a:endParaRPr lang="en-IN" b="1" dirty="0">
              <a:solidFill>
                <a:schemeClr val="bg1"/>
              </a:solidFill>
            </a:endParaRPr>
          </a:p>
        </p:txBody>
      </p:sp>
      <p:sp>
        <p:nvSpPr>
          <p:cNvPr id="109" name="TextBox 108">
            <a:extLst>
              <a:ext uri="{FF2B5EF4-FFF2-40B4-BE49-F238E27FC236}">
                <a16:creationId xmlns:a16="http://schemas.microsoft.com/office/drawing/2014/main" id="{D030CB42-CD94-1539-4A74-472FCA831125}"/>
              </a:ext>
            </a:extLst>
          </p:cNvPr>
          <p:cNvSpPr txBox="1"/>
          <p:nvPr/>
        </p:nvSpPr>
        <p:spPr>
          <a:xfrm>
            <a:off x="6732173" y="3788336"/>
            <a:ext cx="139012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chemeClr val="bg1"/>
                </a:solidFill>
              </a:rPr>
              <a:t>Enrollment</a:t>
            </a:r>
            <a:endParaRPr lang="en-IN" b="1" dirty="0">
              <a:solidFill>
                <a:schemeClr val="bg1"/>
              </a:solidFill>
            </a:endParaRPr>
          </a:p>
        </p:txBody>
      </p:sp>
      <p:sp>
        <p:nvSpPr>
          <p:cNvPr id="110" name="TextBox 109">
            <a:extLst>
              <a:ext uri="{FF2B5EF4-FFF2-40B4-BE49-F238E27FC236}">
                <a16:creationId xmlns:a16="http://schemas.microsoft.com/office/drawing/2014/main" id="{20A93E7B-2B93-8037-BF7A-DC65A78FA782}"/>
              </a:ext>
            </a:extLst>
          </p:cNvPr>
          <p:cNvSpPr txBox="1"/>
          <p:nvPr/>
        </p:nvSpPr>
        <p:spPr>
          <a:xfrm>
            <a:off x="3399736" y="6184215"/>
            <a:ext cx="99257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chemeClr val="bg1"/>
                </a:solidFill>
              </a:rPr>
              <a:t>Faculty</a:t>
            </a:r>
            <a:endParaRPr lang="en-IN" b="1" dirty="0">
              <a:solidFill>
                <a:schemeClr val="bg1"/>
              </a:solidFill>
            </a:endParaRPr>
          </a:p>
        </p:txBody>
      </p:sp>
      <p:sp>
        <p:nvSpPr>
          <p:cNvPr id="111" name="TextBox 110">
            <a:extLst>
              <a:ext uri="{FF2B5EF4-FFF2-40B4-BE49-F238E27FC236}">
                <a16:creationId xmlns:a16="http://schemas.microsoft.com/office/drawing/2014/main" id="{0D704F0F-9F49-1300-25EB-1C68ED4F7363}"/>
              </a:ext>
            </a:extLst>
          </p:cNvPr>
          <p:cNvSpPr txBox="1"/>
          <p:nvPr/>
        </p:nvSpPr>
        <p:spPr>
          <a:xfrm>
            <a:off x="6707786" y="5791124"/>
            <a:ext cx="187743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 err="1">
                <a:solidFill>
                  <a:schemeClr val="bg1"/>
                </a:solidFill>
              </a:rPr>
              <a:t>Student_Phone</a:t>
            </a:r>
            <a:endParaRPr lang="en-IN" b="1" dirty="0">
              <a:solidFill>
                <a:schemeClr val="bg1"/>
              </a:solidFill>
            </a:endParaRPr>
          </a:p>
        </p:txBody>
      </p:sp>
      <p:sp>
        <p:nvSpPr>
          <p:cNvPr id="112" name="TextBox 111">
            <a:extLst>
              <a:ext uri="{FF2B5EF4-FFF2-40B4-BE49-F238E27FC236}">
                <a16:creationId xmlns:a16="http://schemas.microsoft.com/office/drawing/2014/main" id="{332F06F0-C40C-9ABB-5E46-73824B524FD7}"/>
              </a:ext>
            </a:extLst>
          </p:cNvPr>
          <p:cNvSpPr txBox="1"/>
          <p:nvPr/>
        </p:nvSpPr>
        <p:spPr>
          <a:xfrm>
            <a:off x="30874" y="6167592"/>
            <a:ext cx="2781811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 err="1">
                <a:solidFill>
                  <a:schemeClr val="tx1"/>
                </a:solidFill>
              </a:rPr>
              <a:t>dept_id</a:t>
            </a:r>
            <a:r>
              <a:rPr lang="en-US" sz="1400" b="1" dirty="0">
                <a:solidFill>
                  <a:schemeClr val="tx1"/>
                </a:solidFill>
              </a:rPr>
              <a:t>     (PK)</a:t>
            </a:r>
          </a:p>
          <a:p>
            <a:endParaRPr lang="en-US" sz="1400" b="1" dirty="0">
              <a:solidFill>
                <a:schemeClr val="tx1"/>
              </a:solidFill>
            </a:endParaRPr>
          </a:p>
          <a:p>
            <a:r>
              <a:rPr lang="en-US" sz="1400" b="1" dirty="0" err="1">
                <a:solidFill>
                  <a:schemeClr val="tx1"/>
                </a:solidFill>
              </a:rPr>
              <a:t>dept_name</a:t>
            </a:r>
            <a:r>
              <a:rPr lang="en-US" sz="1400" b="1" dirty="0">
                <a:solidFill>
                  <a:schemeClr val="tx1"/>
                </a:solidFill>
              </a:rPr>
              <a:t> (</a:t>
            </a:r>
            <a:r>
              <a:rPr lang="en-US" sz="1350" b="1" dirty="0">
                <a:solidFill>
                  <a:schemeClr val="tx1"/>
                </a:solidFill>
              </a:rPr>
              <a:t>Not</a:t>
            </a:r>
            <a:r>
              <a:rPr lang="en-US" sz="1350" dirty="0">
                <a:solidFill>
                  <a:schemeClr val="tx1"/>
                </a:solidFill>
              </a:rPr>
              <a:t> </a:t>
            </a:r>
            <a:r>
              <a:rPr lang="en-US" sz="1350" b="1" dirty="0">
                <a:solidFill>
                  <a:schemeClr val="tx1"/>
                </a:solidFill>
              </a:rPr>
              <a:t>null,</a:t>
            </a:r>
            <a:r>
              <a:rPr lang="en-US" sz="1350" dirty="0">
                <a:solidFill>
                  <a:schemeClr val="tx1"/>
                </a:solidFill>
              </a:rPr>
              <a:t> </a:t>
            </a:r>
            <a:r>
              <a:rPr lang="en-US" sz="1350" b="1" dirty="0">
                <a:solidFill>
                  <a:schemeClr val="tx1"/>
                </a:solidFill>
              </a:rPr>
              <a:t>Unique)</a:t>
            </a:r>
            <a:endParaRPr lang="en-IN" sz="1350" b="1" dirty="0">
              <a:solidFill>
                <a:schemeClr val="tx1"/>
              </a:solidFill>
            </a:endParaRPr>
          </a:p>
        </p:txBody>
      </p:sp>
      <p:sp>
        <p:nvSpPr>
          <p:cNvPr id="114" name="TextBox 113">
            <a:extLst>
              <a:ext uri="{FF2B5EF4-FFF2-40B4-BE49-F238E27FC236}">
                <a16:creationId xmlns:a16="http://schemas.microsoft.com/office/drawing/2014/main" id="{317C9C47-0068-5703-AFE2-E8E6DE0C9950}"/>
              </a:ext>
            </a:extLst>
          </p:cNvPr>
          <p:cNvSpPr txBox="1"/>
          <p:nvPr/>
        </p:nvSpPr>
        <p:spPr>
          <a:xfrm>
            <a:off x="143593" y="1682911"/>
            <a:ext cx="2710999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dirty="0" err="1">
                <a:solidFill>
                  <a:schemeClr val="tx1"/>
                </a:solidFill>
              </a:rPr>
              <a:t>result_id</a:t>
            </a:r>
            <a:r>
              <a:rPr lang="en-US" sz="1400" b="1" dirty="0">
                <a:solidFill>
                  <a:schemeClr val="tx1"/>
                </a:solidFill>
              </a:rPr>
              <a:t>              (PK)</a:t>
            </a:r>
          </a:p>
          <a:p>
            <a:r>
              <a:rPr lang="en-US" sz="1400" b="1" dirty="0" err="1">
                <a:solidFill>
                  <a:schemeClr val="tx1"/>
                </a:solidFill>
              </a:rPr>
              <a:t>enrollment_id</a:t>
            </a:r>
            <a:r>
              <a:rPr lang="en-US" sz="1400" b="1" dirty="0">
                <a:solidFill>
                  <a:schemeClr val="tx1"/>
                </a:solidFill>
              </a:rPr>
              <a:t>      (FK)</a:t>
            </a:r>
            <a:br>
              <a:rPr lang="en-US" sz="1400" b="1" dirty="0">
                <a:solidFill>
                  <a:schemeClr val="tx1"/>
                </a:solidFill>
              </a:rPr>
            </a:br>
            <a:r>
              <a:rPr lang="en-US" sz="1400" b="1" dirty="0" err="1">
                <a:solidFill>
                  <a:schemeClr val="tx1"/>
                </a:solidFill>
              </a:rPr>
              <a:t>marks_ontained</a:t>
            </a:r>
            <a:r>
              <a:rPr lang="en-US" sz="1400" b="1" dirty="0">
                <a:solidFill>
                  <a:schemeClr val="tx1"/>
                </a:solidFill>
              </a:rPr>
              <a:t>  (CHECK)</a:t>
            </a:r>
          </a:p>
          <a:p>
            <a:r>
              <a:rPr lang="en-US" sz="1400" b="1" dirty="0" err="1">
                <a:solidFill>
                  <a:schemeClr val="tx1"/>
                </a:solidFill>
              </a:rPr>
              <a:t>total_marks</a:t>
            </a:r>
            <a:r>
              <a:rPr lang="en-IN" sz="1400" b="1" dirty="0">
                <a:solidFill>
                  <a:schemeClr val="tx1"/>
                </a:solidFill>
              </a:rPr>
              <a:t>          (NOT NULL)</a:t>
            </a:r>
            <a:endParaRPr lang="en-US" sz="1400" b="1" dirty="0">
              <a:solidFill>
                <a:schemeClr val="tx1"/>
              </a:solidFill>
            </a:endParaRPr>
          </a:p>
        </p:txBody>
      </p:sp>
      <p:sp>
        <p:nvSpPr>
          <p:cNvPr id="116" name="TextBox 115">
            <a:extLst>
              <a:ext uri="{FF2B5EF4-FFF2-40B4-BE49-F238E27FC236}">
                <a16:creationId xmlns:a16="http://schemas.microsoft.com/office/drawing/2014/main" id="{6E5BDF14-9F5A-B0FF-D222-1E767F6C10C8}"/>
              </a:ext>
            </a:extLst>
          </p:cNvPr>
          <p:cNvSpPr txBox="1"/>
          <p:nvPr/>
        </p:nvSpPr>
        <p:spPr>
          <a:xfrm>
            <a:off x="2919470" y="1562356"/>
            <a:ext cx="2744050" cy="11695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 err="1">
                <a:solidFill>
                  <a:schemeClr val="tx1"/>
                </a:solidFill>
              </a:rPr>
              <a:t>student_id</a:t>
            </a:r>
            <a:r>
              <a:rPr lang="en-US" sz="1400" b="1" dirty="0">
                <a:solidFill>
                  <a:schemeClr val="tx1"/>
                </a:solidFill>
              </a:rPr>
              <a:t>   (PK)</a:t>
            </a:r>
          </a:p>
          <a:p>
            <a:endParaRPr lang="en-US" sz="1400" b="1" dirty="0">
              <a:solidFill>
                <a:schemeClr val="tx1"/>
              </a:solidFill>
            </a:endParaRPr>
          </a:p>
          <a:p>
            <a:r>
              <a:rPr lang="en-US" sz="1400" b="1" dirty="0">
                <a:solidFill>
                  <a:schemeClr val="tx1"/>
                </a:solidFill>
              </a:rPr>
              <a:t>email (Unique, NOT NULL)</a:t>
            </a:r>
          </a:p>
          <a:p>
            <a:endParaRPr lang="en-US" sz="1400" b="1" dirty="0">
              <a:solidFill>
                <a:schemeClr val="tx1"/>
              </a:solidFill>
            </a:endParaRPr>
          </a:p>
          <a:p>
            <a:r>
              <a:rPr lang="en-US" sz="1400" b="1" dirty="0" err="1">
                <a:solidFill>
                  <a:schemeClr val="tx1"/>
                </a:solidFill>
              </a:rPr>
              <a:t>dept_id</a:t>
            </a:r>
            <a:r>
              <a:rPr lang="en-US" sz="1400" b="1" dirty="0">
                <a:solidFill>
                  <a:schemeClr val="tx1"/>
                </a:solidFill>
              </a:rPr>
              <a:t>         (FK)</a:t>
            </a:r>
            <a:endParaRPr lang="en-IN" sz="1400" b="1" dirty="0">
              <a:solidFill>
                <a:schemeClr val="tx1"/>
              </a:solidFill>
            </a:endParaRPr>
          </a:p>
        </p:txBody>
      </p:sp>
      <p:sp>
        <p:nvSpPr>
          <p:cNvPr id="119" name="TextBox 118">
            <a:extLst>
              <a:ext uri="{FF2B5EF4-FFF2-40B4-BE49-F238E27FC236}">
                <a16:creationId xmlns:a16="http://schemas.microsoft.com/office/drawing/2014/main" id="{62100709-5E91-F48A-0717-0D8F12C82597}"/>
              </a:ext>
            </a:extLst>
          </p:cNvPr>
          <p:cNvSpPr txBox="1"/>
          <p:nvPr/>
        </p:nvSpPr>
        <p:spPr>
          <a:xfrm>
            <a:off x="6244515" y="4313199"/>
            <a:ext cx="2340708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500" b="1" dirty="0" err="1">
                <a:solidFill>
                  <a:schemeClr val="tx1"/>
                </a:solidFill>
              </a:rPr>
              <a:t>enrollment_id</a:t>
            </a:r>
            <a:r>
              <a:rPr lang="en-US" sz="1500" b="1" dirty="0">
                <a:solidFill>
                  <a:schemeClr val="tx1"/>
                </a:solidFill>
              </a:rPr>
              <a:t>  (PK)</a:t>
            </a:r>
          </a:p>
          <a:p>
            <a:r>
              <a:rPr lang="en-US" sz="1500" b="1" dirty="0" err="1">
                <a:solidFill>
                  <a:schemeClr val="tx1"/>
                </a:solidFill>
              </a:rPr>
              <a:t>student_id</a:t>
            </a:r>
            <a:r>
              <a:rPr lang="en-US" sz="1500" b="1" dirty="0">
                <a:solidFill>
                  <a:schemeClr val="tx1"/>
                </a:solidFill>
              </a:rPr>
              <a:t>        (FK)</a:t>
            </a:r>
          </a:p>
          <a:p>
            <a:r>
              <a:rPr lang="en-US" sz="1500" b="1" dirty="0" err="1">
                <a:solidFill>
                  <a:schemeClr val="tx1"/>
                </a:solidFill>
              </a:rPr>
              <a:t>course_id</a:t>
            </a:r>
            <a:r>
              <a:rPr lang="en-US" sz="1500" b="1" dirty="0">
                <a:solidFill>
                  <a:schemeClr val="tx1"/>
                </a:solidFill>
              </a:rPr>
              <a:t>         (FK)</a:t>
            </a:r>
          </a:p>
          <a:p>
            <a:r>
              <a:rPr lang="en-US" sz="1500" b="1" dirty="0">
                <a:solidFill>
                  <a:schemeClr val="tx1"/>
                </a:solidFill>
              </a:rPr>
              <a:t>Semester  (NOT NULL)</a:t>
            </a:r>
            <a:endParaRPr lang="en-IN" sz="1500" b="1" dirty="0">
              <a:solidFill>
                <a:schemeClr val="tx1"/>
              </a:solidFill>
            </a:endParaRPr>
          </a:p>
        </p:txBody>
      </p:sp>
      <p:sp>
        <p:nvSpPr>
          <p:cNvPr id="120" name="TextBox 119">
            <a:extLst>
              <a:ext uri="{FF2B5EF4-FFF2-40B4-BE49-F238E27FC236}">
                <a16:creationId xmlns:a16="http://schemas.microsoft.com/office/drawing/2014/main" id="{1E9CA6CD-2E58-5CF0-038B-01760E5D47B8}"/>
              </a:ext>
            </a:extLst>
          </p:cNvPr>
          <p:cNvSpPr txBox="1"/>
          <p:nvPr/>
        </p:nvSpPr>
        <p:spPr>
          <a:xfrm>
            <a:off x="71106" y="4087263"/>
            <a:ext cx="3060453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350" b="1" dirty="0" err="1">
                <a:solidFill>
                  <a:schemeClr val="tx1"/>
                </a:solidFill>
              </a:rPr>
              <a:t>course_id</a:t>
            </a:r>
            <a:r>
              <a:rPr lang="en-US" sz="1350" b="1" dirty="0">
                <a:solidFill>
                  <a:schemeClr val="tx1"/>
                </a:solidFill>
              </a:rPr>
              <a:t>         (PK)</a:t>
            </a:r>
          </a:p>
          <a:p>
            <a:r>
              <a:rPr lang="en-US" sz="1350" b="1" dirty="0" err="1">
                <a:solidFill>
                  <a:schemeClr val="tx1"/>
                </a:solidFill>
              </a:rPr>
              <a:t>course_code</a:t>
            </a:r>
            <a:r>
              <a:rPr lang="en-US" sz="1350" b="1" dirty="0">
                <a:solidFill>
                  <a:schemeClr val="tx1"/>
                </a:solidFill>
              </a:rPr>
              <a:t> (Unique, Not Null)</a:t>
            </a:r>
          </a:p>
          <a:p>
            <a:r>
              <a:rPr lang="en-US" sz="1350" b="1" dirty="0">
                <a:solidFill>
                  <a:schemeClr val="tx1"/>
                </a:solidFill>
              </a:rPr>
              <a:t>Credits           (CHECK)</a:t>
            </a:r>
          </a:p>
          <a:p>
            <a:r>
              <a:rPr lang="en-US" sz="1350" b="1" dirty="0" err="1">
                <a:solidFill>
                  <a:schemeClr val="tx1"/>
                </a:solidFill>
              </a:rPr>
              <a:t>dept_id</a:t>
            </a:r>
            <a:r>
              <a:rPr lang="en-US" sz="1350" b="1" dirty="0">
                <a:solidFill>
                  <a:schemeClr val="tx1"/>
                </a:solidFill>
              </a:rPr>
              <a:t>            (FK)</a:t>
            </a:r>
            <a:endParaRPr lang="en-IN" sz="1350" b="1" dirty="0">
              <a:solidFill>
                <a:schemeClr val="tx1"/>
              </a:solidFill>
            </a:endParaRPr>
          </a:p>
        </p:txBody>
      </p:sp>
      <p:sp>
        <p:nvSpPr>
          <p:cNvPr id="121" name="TextBox 120">
            <a:extLst>
              <a:ext uri="{FF2B5EF4-FFF2-40B4-BE49-F238E27FC236}">
                <a16:creationId xmlns:a16="http://schemas.microsoft.com/office/drawing/2014/main" id="{99C2C292-BF8C-3401-E5FA-7068FC8BE26D}"/>
              </a:ext>
            </a:extLst>
          </p:cNvPr>
          <p:cNvSpPr txBox="1"/>
          <p:nvPr/>
        </p:nvSpPr>
        <p:spPr>
          <a:xfrm>
            <a:off x="6405164" y="6245172"/>
            <a:ext cx="3036409" cy="116955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dirty="0" err="1">
                <a:solidFill>
                  <a:schemeClr val="tx1"/>
                </a:solidFill>
              </a:rPr>
              <a:t>phone_id</a:t>
            </a:r>
            <a:r>
              <a:rPr lang="en-US" sz="1400" b="1" dirty="0">
                <a:solidFill>
                  <a:schemeClr val="tx1"/>
                </a:solidFill>
              </a:rPr>
              <a:t>      (PK)</a:t>
            </a:r>
          </a:p>
          <a:p>
            <a:endParaRPr lang="en-US" sz="1400" b="1" dirty="0">
              <a:solidFill>
                <a:schemeClr val="tx1"/>
              </a:solidFill>
            </a:endParaRPr>
          </a:p>
          <a:p>
            <a:r>
              <a:rPr lang="en-US" sz="1400" b="1" dirty="0" err="1">
                <a:solidFill>
                  <a:schemeClr val="tx1"/>
                </a:solidFill>
              </a:rPr>
              <a:t>student_id</a:t>
            </a:r>
            <a:r>
              <a:rPr lang="en-US" sz="1400" b="1" dirty="0">
                <a:solidFill>
                  <a:schemeClr val="tx1"/>
                </a:solidFill>
              </a:rPr>
              <a:t>     (FK)</a:t>
            </a:r>
          </a:p>
          <a:p>
            <a:endParaRPr lang="en-US" sz="1400" b="1" dirty="0">
              <a:solidFill>
                <a:schemeClr val="tx1"/>
              </a:solidFill>
            </a:endParaRPr>
          </a:p>
          <a:p>
            <a:r>
              <a:rPr lang="en-US" sz="1400" b="1" dirty="0" err="1">
                <a:solidFill>
                  <a:schemeClr val="tx1"/>
                </a:solidFill>
              </a:rPr>
              <a:t>phone_number</a:t>
            </a:r>
            <a:r>
              <a:rPr lang="en-US" sz="1400" b="1" dirty="0">
                <a:solidFill>
                  <a:schemeClr val="tx1"/>
                </a:solidFill>
              </a:rPr>
              <a:t> (Unique, Not Null)</a:t>
            </a:r>
            <a:endParaRPr lang="en-IN" sz="1400" b="1" dirty="0">
              <a:solidFill>
                <a:schemeClr val="tx1"/>
              </a:solidFill>
            </a:endParaRPr>
          </a:p>
        </p:txBody>
      </p:sp>
      <p:sp>
        <p:nvSpPr>
          <p:cNvPr id="122" name="TextBox 121">
            <a:extLst>
              <a:ext uri="{FF2B5EF4-FFF2-40B4-BE49-F238E27FC236}">
                <a16:creationId xmlns:a16="http://schemas.microsoft.com/office/drawing/2014/main" id="{1DEA56B1-A5B1-5910-FC67-0C11E47D0207}"/>
              </a:ext>
            </a:extLst>
          </p:cNvPr>
          <p:cNvSpPr txBox="1"/>
          <p:nvPr/>
        </p:nvSpPr>
        <p:spPr>
          <a:xfrm>
            <a:off x="2990892" y="6666504"/>
            <a:ext cx="2273379" cy="73866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dirty="0" err="1">
                <a:solidFill>
                  <a:schemeClr val="tx1"/>
                </a:solidFill>
              </a:rPr>
              <a:t>faculty_id</a:t>
            </a:r>
            <a:r>
              <a:rPr lang="en-US" sz="1400" b="1" dirty="0">
                <a:solidFill>
                  <a:schemeClr val="tx1"/>
                </a:solidFill>
              </a:rPr>
              <a:t>     (PK)</a:t>
            </a:r>
          </a:p>
          <a:p>
            <a:r>
              <a:rPr lang="en-US" sz="1400" b="1" dirty="0">
                <a:solidFill>
                  <a:schemeClr val="tx1"/>
                </a:solidFill>
              </a:rPr>
              <a:t>name            (NOT NULL)</a:t>
            </a:r>
          </a:p>
          <a:p>
            <a:r>
              <a:rPr lang="en-US" sz="1400" b="1" dirty="0" err="1">
                <a:solidFill>
                  <a:schemeClr val="tx1"/>
                </a:solidFill>
              </a:rPr>
              <a:t>dept_id</a:t>
            </a:r>
            <a:r>
              <a:rPr lang="en-US" sz="1400" b="1" dirty="0">
                <a:solidFill>
                  <a:schemeClr val="tx1"/>
                </a:solidFill>
              </a:rPr>
              <a:t>       (FK)</a:t>
            </a:r>
            <a:endParaRPr lang="en-IN" sz="1400" b="1" dirty="0">
              <a:solidFill>
                <a:schemeClr val="tx1"/>
              </a:solidFill>
            </a:endParaRPr>
          </a:p>
        </p:txBody>
      </p:sp>
      <p:sp>
        <p:nvSpPr>
          <p:cNvPr id="124" name="Rectangle 123">
            <a:extLst>
              <a:ext uri="{FF2B5EF4-FFF2-40B4-BE49-F238E27FC236}">
                <a16:creationId xmlns:a16="http://schemas.microsoft.com/office/drawing/2014/main" id="{B1AE59A1-0930-21C9-B745-D8A02D7811E7}"/>
              </a:ext>
            </a:extLst>
          </p:cNvPr>
          <p:cNvSpPr/>
          <p:nvPr/>
        </p:nvSpPr>
        <p:spPr>
          <a:xfrm>
            <a:off x="5421890" y="1156721"/>
            <a:ext cx="4492917" cy="2447188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500" b="1" dirty="0">
                <a:solidFill>
                  <a:schemeClr val="tx1"/>
                </a:solidFill>
              </a:rPr>
              <a:t>NOT NULL - Ensures a column cannot have null values</a:t>
            </a:r>
            <a:r>
              <a:rPr lang="en-IN" sz="1500" b="1" dirty="0">
                <a:solidFill>
                  <a:schemeClr val="tx1"/>
                </a:solidFill>
              </a:rPr>
              <a:t>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IN" sz="1500" b="1" dirty="0">
              <a:solidFill>
                <a:schemeClr val="tx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500" b="1" dirty="0">
                <a:solidFill>
                  <a:schemeClr val="tx1"/>
                </a:solidFill>
              </a:rPr>
              <a:t>UNIQUE – Ensures all values in a column are distinct.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IN" sz="1500" dirty="0">
              <a:solidFill>
                <a:schemeClr val="tx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500" b="1" dirty="0">
                <a:solidFill>
                  <a:schemeClr val="tx1"/>
                </a:solidFill>
              </a:rPr>
              <a:t>CHECK – Ensures values satisfy a specific condition.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IN" sz="1500" b="1" dirty="0">
              <a:solidFill>
                <a:schemeClr val="tx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500" b="1" dirty="0">
                <a:solidFill>
                  <a:schemeClr val="tx1"/>
                </a:solidFill>
              </a:rPr>
              <a:t>DEFAULT – Sets a default value when none is provided.</a:t>
            </a:r>
            <a:endParaRPr lang="en-US" sz="1500" b="1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7917037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994C3EB-A702-D17F-4829-E37569932D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Box 14">
            <a:extLst>
              <a:ext uri="{FF2B5EF4-FFF2-40B4-BE49-F238E27FC236}">
                <a16:creationId xmlns:a16="http://schemas.microsoft.com/office/drawing/2014/main" id="{C94372AF-741E-13F0-7A49-5899AAA88E58}"/>
              </a:ext>
            </a:extLst>
          </p:cNvPr>
          <p:cNvSpPr txBox="1"/>
          <p:nvPr/>
        </p:nvSpPr>
        <p:spPr>
          <a:xfrm>
            <a:off x="4412373" y="321324"/>
            <a:ext cx="5029200" cy="3924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95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IMPLEMENTATION</a:t>
            </a:r>
          </a:p>
        </p:txBody>
      </p:sp>
      <p:pic>
        <p:nvPicPr>
          <p:cNvPr id="17" name="object 3">
            <a:extLst>
              <a:ext uri="{FF2B5EF4-FFF2-40B4-BE49-F238E27FC236}">
                <a16:creationId xmlns:a16="http://schemas.microsoft.com/office/drawing/2014/main" id="{A1EEC003-D96B-9878-B867-CB3E416DA499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90750" y="204311"/>
            <a:ext cx="1163002" cy="424338"/>
          </a:xfrm>
          <a:prstGeom prst="rect">
            <a:avLst/>
          </a:prstGeom>
        </p:spPr>
      </p:pic>
      <p:grpSp>
        <p:nvGrpSpPr>
          <p:cNvPr id="2" name="object 3">
            <a:extLst>
              <a:ext uri="{FF2B5EF4-FFF2-40B4-BE49-F238E27FC236}">
                <a16:creationId xmlns:a16="http://schemas.microsoft.com/office/drawing/2014/main" id="{444C8BDC-1408-2F08-ECFE-24342F99259F}"/>
              </a:ext>
            </a:extLst>
          </p:cNvPr>
          <p:cNvGrpSpPr/>
          <p:nvPr/>
        </p:nvGrpSpPr>
        <p:grpSpPr>
          <a:xfrm>
            <a:off x="2667000" y="85008"/>
            <a:ext cx="5103904" cy="1198311"/>
            <a:chOff x="2648188" y="47148"/>
            <a:chExt cx="5103904" cy="1198311"/>
          </a:xfrm>
        </p:grpSpPr>
        <p:pic>
          <p:nvPicPr>
            <p:cNvPr id="3" name="object 4">
              <a:extLst>
                <a:ext uri="{FF2B5EF4-FFF2-40B4-BE49-F238E27FC236}">
                  <a16:creationId xmlns:a16="http://schemas.microsoft.com/office/drawing/2014/main" id="{486D7949-B407-1EA2-DD79-8A477F1C214A}"/>
                </a:ext>
              </a:extLst>
            </p:cNvPr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648188" y="47148"/>
              <a:ext cx="5103904" cy="1198311"/>
            </a:xfrm>
            <a:prstGeom prst="rect">
              <a:avLst/>
            </a:prstGeom>
          </p:spPr>
        </p:pic>
        <p:pic>
          <p:nvPicPr>
            <p:cNvPr id="4" name="object 5">
              <a:extLst>
                <a:ext uri="{FF2B5EF4-FFF2-40B4-BE49-F238E27FC236}">
                  <a16:creationId xmlns:a16="http://schemas.microsoft.com/office/drawing/2014/main" id="{AF19115A-194D-B4F3-FDC6-80C7A9EAC643}"/>
                </a:ext>
              </a:extLst>
            </p:cNvPr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703195" y="86439"/>
              <a:ext cx="4997767" cy="1092279"/>
            </a:xfrm>
            <a:prstGeom prst="rect">
              <a:avLst/>
            </a:prstGeom>
          </p:spPr>
        </p:pic>
        <p:pic>
          <p:nvPicPr>
            <p:cNvPr id="5" name="object 6">
              <a:extLst>
                <a:ext uri="{FF2B5EF4-FFF2-40B4-BE49-F238E27FC236}">
                  <a16:creationId xmlns:a16="http://schemas.microsoft.com/office/drawing/2014/main" id="{E665D128-267F-2426-96EF-5BA2DC13C642}"/>
                </a:ext>
              </a:extLst>
            </p:cNvPr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2828925" y="243549"/>
              <a:ext cx="4585268" cy="522565"/>
            </a:xfrm>
            <a:prstGeom prst="rect">
              <a:avLst/>
            </a:prstGeom>
          </p:spPr>
        </p:pic>
        <p:sp>
          <p:nvSpPr>
            <p:cNvPr id="6" name="object 7">
              <a:extLst>
                <a:ext uri="{FF2B5EF4-FFF2-40B4-BE49-F238E27FC236}">
                  <a16:creationId xmlns:a16="http://schemas.microsoft.com/office/drawing/2014/main" id="{CBF6A033-32D1-951A-E7A6-E89336F7E40B}"/>
                </a:ext>
              </a:extLst>
            </p:cNvPr>
            <p:cNvSpPr/>
            <p:nvPr/>
          </p:nvSpPr>
          <p:spPr>
            <a:xfrm>
              <a:off x="2883931" y="282892"/>
              <a:ext cx="4479290" cy="416559"/>
            </a:xfrm>
            <a:custGeom>
              <a:avLst/>
              <a:gdLst/>
              <a:ahLst/>
              <a:cxnLst/>
              <a:rect l="l" t="t" r="r" b="b"/>
              <a:pathLst>
                <a:path w="4479290" h="416559">
                  <a:moveTo>
                    <a:pt x="4394158" y="0"/>
                  </a:moveTo>
                  <a:lnTo>
                    <a:pt x="84972" y="0"/>
                  </a:lnTo>
                  <a:lnTo>
                    <a:pt x="51863" y="5448"/>
                  </a:lnTo>
                  <a:lnTo>
                    <a:pt x="24831" y="20326"/>
                  </a:lnTo>
                  <a:lnTo>
                    <a:pt x="6705" y="42329"/>
                  </a:lnTo>
                  <a:lnTo>
                    <a:pt x="0" y="69361"/>
                  </a:lnTo>
                  <a:lnTo>
                    <a:pt x="0" y="346910"/>
                  </a:lnTo>
                  <a:lnTo>
                    <a:pt x="6705" y="373941"/>
                  </a:lnTo>
                  <a:lnTo>
                    <a:pt x="24831" y="395944"/>
                  </a:lnTo>
                  <a:lnTo>
                    <a:pt x="51863" y="410822"/>
                  </a:lnTo>
                  <a:lnTo>
                    <a:pt x="84972" y="416271"/>
                  </a:lnTo>
                  <a:lnTo>
                    <a:pt x="4394158" y="416271"/>
                  </a:lnTo>
                  <a:lnTo>
                    <a:pt x="4427267" y="410822"/>
                  </a:lnTo>
                  <a:lnTo>
                    <a:pt x="4454299" y="395944"/>
                  </a:lnTo>
                  <a:lnTo>
                    <a:pt x="4472425" y="373941"/>
                  </a:lnTo>
                  <a:lnTo>
                    <a:pt x="4479131" y="346910"/>
                  </a:lnTo>
                  <a:lnTo>
                    <a:pt x="4479131" y="69361"/>
                  </a:lnTo>
                  <a:lnTo>
                    <a:pt x="4472425" y="42329"/>
                  </a:lnTo>
                  <a:lnTo>
                    <a:pt x="4454299" y="20326"/>
                  </a:lnTo>
                  <a:lnTo>
                    <a:pt x="4427267" y="5448"/>
                  </a:lnTo>
                  <a:lnTo>
                    <a:pt x="4394158" y="0"/>
                  </a:lnTo>
                  <a:close/>
                </a:path>
              </a:pathLst>
            </a:custGeom>
            <a:solidFill>
              <a:srgbClr val="FF6600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</p:grpSp>
      <p:sp>
        <p:nvSpPr>
          <p:cNvPr id="7" name="TextBox 6">
            <a:extLst>
              <a:ext uri="{FF2B5EF4-FFF2-40B4-BE49-F238E27FC236}">
                <a16:creationId xmlns:a16="http://schemas.microsoft.com/office/drawing/2014/main" id="{0A3D4540-9EF3-DE22-0F98-4B4BAC3FACC2}"/>
              </a:ext>
            </a:extLst>
          </p:cNvPr>
          <p:cNvSpPr txBox="1"/>
          <p:nvPr/>
        </p:nvSpPr>
        <p:spPr>
          <a:xfrm>
            <a:off x="3200400" y="321324"/>
            <a:ext cx="5029200" cy="3924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95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DDL, DML &amp; DQL OPERATIONS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88869A2-4541-5690-6D75-52B887D6E599}"/>
              </a:ext>
            </a:extLst>
          </p:cNvPr>
          <p:cNvSpPr txBox="1"/>
          <p:nvPr/>
        </p:nvSpPr>
        <p:spPr>
          <a:xfrm>
            <a:off x="455439" y="1227729"/>
            <a:ext cx="213712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dirty="0">
                <a:solidFill>
                  <a:schemeClr val="bg1"/>
                </a:solidFill>
              </a:rPr>
              <a:t>DDL Operations</a:t>
            </a:r>
            <a:endParaRPr lang="en-IN" sz="2000" b="1" dirty="0">
              <a:solidFill>
                <a:schemeClr val="bg1"/>
              </a:solidFill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13C7AC4-F5F6-CB97-FA84-77E10A48D867}"/>
              </a:ext>
            </a:extLst>
          </p:cNvPr>
          <p:cNvSpPr/>
          <p:nvPr/>
        </p:nvSpPr>
        <p:spPr>
          <a:xfrm>
            <a:off x="290751" y="1227729"/>
            <a:ext cx="4749956" cy="2277471"/>
          </a:xfrm>
          <a:prstGeom prst="rect">
            <a:avLst/>
          </a:prstGeom>
          <a:solidFill>
            <a:schemeClr val="accent6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909F62E8-E21C-B98E-F45D-3FAFCCB176F7}"/>
              </a:ext>
            </a:extLst>
          </p:cNvPr>
          <p:cNvSpPr/>
          <p:nvPr/>
        </p:nvSpPr>
        <p:spPr>
          <a:xfrm>
            <a:off x="290749" y="1170639"/>
            <a:ext cx="4749957" cy="522565"/>
          </a:xfrm>
          <a:prstGeom prst="roundRect">
            <a:avLst/>
          </a:prstGeom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42D0556C-CB1F-E60F-B1EA-D27F73BC805D}"/>
              </a:ext>
            </a:extLst>
          </p:cNvPr>
          <p:cNvSpPr txBox="1"/>
          <p:nvPr/>
        </p:nvSpPr>
        <p:spPr>
          <a:xfrm>
            <a:off x="509999" y="1228937"/>
            <a:ext cx="431400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bg1"/>
                </a:solidFill>
              </a:rPr>
              <a:t>DDL – DATA DEFINITION LANGUAGE</a:t>
            </a:r>
            <a:endParaRPr lang="en-IN" b="1" dirty="0">
              <a:solidFill>
                <a:schemeClr val="bg1"/>
              </a:solidFill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277960C7-DDB7-8C94-863F-CE0B2FD932CD}"/>
              </a:ext>
            </a:extLst>
          </p:cNvPr>
          <p:cNvSpPr txBox="1"/>
          <p:nvPr/>
        </p:nvSpPr>
        <p:spPr>
          <a:xfrm>
            <a:off x="354211" y="1684929"/>
            <a:ext cx="473559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b="1" dirty="0">
                <a:solidFill>
                  <a:schemeClr val="tx1"/>
                </a:solidFill>
              </a:rPr>
              <a:t>Used to Create and modify database structure.</a:t>
            </a:r>
            <a:endParaRPr lang="en-IN" sz="1600" b="1" dirty="0">
              <a:solidFill>
                <a:schemeClr val="tx1"/>
              </a:solidFill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3A229A0E-F172-CE82-70B9-D6D63C49A440}"/>
              </a:ext>
            </a:extLst>
          </p:cNvPr>
          <p:cNvSpPr txBox="1"/>
          <p:nvPr/>
        </p:nvSpPr>
        <p:spPr>
          <a:xfrm>
            <a:off x="345598" y="2055469"/>
            <a:ext cx="4744205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Courier New" panose="02070309020205020404" pitchFamily="49" charset="0"/>
              <a:buChar char="o"/>
            </a:pPr>
            <a:r>
              <a:rPr lang="en-US" sz="1600" b="1" dirty="0"/>
              <a:t>CREATE DATABASE – Creates database.</a:t>
            </a:r>
          </a:p>
          <a:p>
            <a:pPr marL="285750" indent="-285750">
              <a:buFont typeface="Courier New" panose="02070309020205020404" pitchFamily="49" charset="0"/>
              <a:buChar char="o"/>
            </a:pPr>
            <a:endParaRPr lang="en-US" sz="1600" b="1" dirty="0"/>
          </a:p>
          <a:p>
            <a:pPr marL="285750" indent="-285750">
              <a:buFont typeface="Courier New" panose="02070309020205020404" pitchFamily="49" charset="0"/>
              <a:buChar char="o"/>
            </a:pPr>
            <a:r>
              <a:rPr lang="en-US" sz="1600" b="1" dirty="0"/>
              <a:t>CREATE TABLE – Creates  the tables.</a:t>
            </a:r>
          </a:p>
          <a:p>
            <a:pPr marL="285750" indent="-285750">
              <a:buFont typeface="Courier New" panose="02070309020205020404" pitchFamily="49" charset="0"/>
              <a:buChar char="o"/>
            </a:pPr>
            <a:endParaRPr lang="en-US" sz="1600" b="1" dirty="0"/>
          </a:p>
          <a:p>
            <a:pPr marL="285750" indent="-285750">
              <a:buFont typeface="Courier New" panose="02070309020205020404" pitchFamily="49" charset="0"/>
              <a:buChar char="o"/>
            </a:pPr>
            <a:r>
              <a:rPr lang="en-US" sz="1600" b="1" dirty="0"/>
              <a:t>ALTER TABLE – Modifies table structure.</a:t>
            </a:r>
            <a:endParaRPr lang="en-IN" sz="1600" b="1" dirty="0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029F4BB6-7653-A157-373B-EB4EF89415E5}"/>
              </a:ext>
            </a:extLst>
          </p:cNvPr>
          <p:cNvSpPr/>
          <p:nvPr/>
        </p:nvSpPr>
        <p:spPr>
          <a:xfrm>
            <a:off x="5244532" y="1519634"/>
            <a:ext cx="4585268" cy="1985565"/>
          </a:xfrm>
          <a:prstGeom prst="rect">
            <a:avLst/>
          </a:prstGeom>
          <a:solidFill>
            <a:schemeClr val="accent1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0" name="Rectangle: Rounded Corners 19">
            <a:extLst>
              <a:ext uri="{FF2B5EF4-FFF2-40B4-BE49-F238E27FC236}">
                <a16:creationId xmlns:a16="http://schemas.microsoft.com/office/drawing/2014/main" id="{6C259BED-B6F7-15C6-4AE0-1A7BC38133FA}"/>
              </a:ext>
            </a:extLst>
          </p:cNvPr>
          <p:cNvSpPr/>
          <p:nvPr/>
        </p:nvSpPr>
        <p:spPr>
          <a:xfrm>
            <a:off x="5244531" y="1170640"/>
            <a:ext cx="4585267" cy="514290"/>
          </a:xfrm>
          <a:prstGeom prst="roundRect">
            <a:avLst/>
          </a:prstGeom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308DBA58-C65E-95B5-4C6F-023981563DCA}"/>
              </a:ext>
            </a:extLst>
          </p:cNvPr>
          <p:cNvSpPr txBox="1"/>
          <p:nvPr/>
        </p:nvSpPr>
        <p:spPr>
          <a:xfrm>
            <a:off x="5226386" y="1250812"/>
            <a:ext cx="4639412" cy="3539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700" b="1" dirty="0">
                <a:solidFill>
                  <a:schemeClr val="bg1"/>
                </a:solidFill>
              </a:rPr>
              <a:t>DML – DATA MANUPULATION LANGUAGE</a:t>
            </a:r>
            <a:endParaRPr lang="en-IN" sz="1700" b="1" dirty="0">
              <a:solidFill>
                <a:schemeClr val="bg1"/>
              </a:solidFill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505E509E-E6EA-1B53-2FE3-87D3646D6F16}"/>
              </a:ext>
            </a:extLst>
          </p:cNvPr>
          <p:cNvSpPr txBox="1"/>
          <p:nvPr/>
        </p:nvSpPr>
        <p:spPr>
          <a:xfrm>
            <a:off x="5329495" y="1735003"/>
            <a:ext cx="3935693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b="1" dirty="0"/>
              <a:t>Used to add, change and remove data.</a:t>
            </a:r>
            <a:endParaRPr lang="en-IN" sz="1600" b="1" dirty="0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40582CD1-DA0B-AC24-8787-C8AE57AAB4BD}"/>
              </a:ext>
            </a:extLst>
          </p:cNvPr>
          <p:cNvSpPr txBox="1"/>
          <p:nvPr/>
        </p:nvSpPr>
        <p:spPr>
          <a:xfrm>
            <a:off x="5361013" y="2073557"/>
            <a:ext cx="4406635" cy="140038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Courier New" panose="02070309020205020404" pitchFamily="49" charset="0"/>
              <a:buChar char="o"/>
            </a:pPr>
            <a:r>
              <a:rPr lang="en-US" sz="1700" b="1" dirty="0"/>
              <a:t>INSERT – Adds new records.</a:t>
            </a:r>
          </a:p>
          <a:p>
            <a:pPr marL="285750" indent="-285750">
              <a:buFont typeface="Courier New" panose="02070309020205020404" pitchFamily="49" charset="0"/>
              <a:buChar char="o"/>
            </a:pPr>
            <a:endParaRPr lang="en-US" sz="1700" b="1" dirty="0"/>
          </a:p>
          <a:p>
            <a:pPr marL="285750" indent="-285750">
              <a:buFont typeface="Courier New" panose="02070309020205020404" pitchFamily="49" charset="0"/>
              <a:buChar char="o"/>
            </a:pPr>
            <a:r>
              <a:rPr lang="en-US" sz="1700" b="1" dirty="0"/>
              <a:t>UPDATE – Changes existing records.</a:t>
            </a:r>
          </a:p>
          <a:p>
            <a:pPr marL="285750" indent="-285750">
              <a:buFont typeface="Courier New" panose="02070309020205020404" pitchFamily="49" charset="0"/>
              <a:buChar char="o"/>
            </a:pPr>
            <a:endParaRPr lang="en-US" sz="1700" b="1" dirty="0"/>
          </a:p>
          <a:p>
            <a:pPr marL="285750" indent="-285750">
              <a:buFont typeface="Courier New" panose="02070309020205020404" pitchFamily="49" charset="0"/>
              <a:buChar char="o"/>
            </a:pPr>
            <a:r>
              <a:rPr lang="en-US" sz="1700" b="1" dirty="0"/>
              <a:t>DELETE – Removes records.</a:t>
            </a:r>
            <a:endParaRPr lang="en-IN" sz="1700" b="1" dirty="0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6F3031F3-9C86-2281-071A-755869CCF31F}"/>
              </a:ext>
            </a:extLst>
          </p:cNvPr>
          <p:cNvSpPr/>
          <p:nvPr/>
        </p:nvSpPr>
        <p:spPr>
          <a:xfrm>
            <a:off x="290748" y="4114799"/>
            <a:ext cx="4738451" cy="3439381"/>
          </a:xfrm>
          <a:prstGeom prst="rect">
            <a:avLst/>
          </a:prstGeom>
          <a:solidFill>
            <a:schemeClr val="accent6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5" name="Rectangle: Rounded Corners 24">
            <a:extLst>
              <a:ext uri="{FF2B5EF4-FFF2-40B4-BE49-F238E27FC236}">
                <a16:creationId xmlns:a16="http://schemas.microsoft.com/office/drawing/2014/main" id="{E1BA160E-813B-9B5E-53E4-0F571A7FAF38}"/>
              </a:ext>
            </a:extLst>
          </p:cNvPr>
          <p:cNvSpPr/>
          <p:nvPr/>
        </p:nvSpPr>
        <p:spPr>
          <a:xfrm>
            <a:off x="284994" y="3853517"/>
            <a:ext cx="4749957" cy="522565"/>
          </a:xfrm>
          <a:prstGeom prst="roundRect">
            <a:avLst/>
          </a:prstGeom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0580A030-719B-F9C5-AD4F-1196A0C3DD51}"/>
              </a:ext>
            </a:extLst>
          </p:cNvPr>
          <p:cNvSpPr txBox="1"/>
          <p:nvPr/>
        </p:nvSpPr>
        <p:spPr>
          <a:xfrm>
            <a:off x="530443" y="3876907"/>
            <a:ext cx="424988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dirty="0">
                <a:solidFill>
                  <a:schemeClr val="bg1"/>
                </a:solidFill>
              </a:rPr>
              <a:t>DQL – DATA QUERY LANGUAGE</a:t>
            </a:r>
            <a:endParaRPr lang="en-IN" sz="2000" b="1" dirty="0">
              <a:solidFill>
                <a:schemeClr val="bg1"/>
              </a:solidFill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EE868B4B-D2EE-BB15-CE8E-E139DC4E2BB0}"/>
              </a:ext>
            </a:extLst>
          </p:cNvPr>
          <p:cNvSpPr txBox="1"/>
          <p:nvPr/>
        </p:nvSpPr>
        <p:spPr>
          <a:xfrm>
            <a:off x="530443" y="4368077"/>
            <a:ext cx="390363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Used to retrieve and analyze data.</a:t>
            </a:r>
            <a:endParaRPr lang="en-IN" b="1" dirty="0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0D4E30D2-327F-68E3-9B90-4BD2C89047F3}"/>
              </a:ext>
            </a:extLst>
          </p:cNvPr>
          <p:cNvSpPr txBox="1"/>
          <p:nvPr/>
        </p:nvSpPr>
        <p:spPr>
          <a:xfrm>
            <a:off x="284994" y="4753414"/>
            <a:ext cx="4755711" cy="28007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Courier New" panose="02070309020205020404" pitchFamily="49" charset="0"/>
              <a:buChar char="o"/>
            </a:pPr>
            <a:r>
              <a:rPr lang="en-US" sz="1600" b="1" dirty="0"/>
              <a:t>SELECT – Displays data.</a:t>
            </a:r>
          </a:p>
          <a:p>
            <a:pPr marL="285750" indent="-285750">
              <a:buFont typeface="Courier New" panose="02070309020205020404" pitchFamily="49" charset="0"/>
              <a:buChar char="o"/>
            </a:pPr>
            <a:endParaRPr lang="en-US" sz="1600" b="1" dirty="0"/>
          </a:p>
          <a:p>
            <a:pPr marL="285750" indent="-285750">
              <a:buFont typeface="Courier New" panose="02070309020205020404" pitchFamily="49" charset="0"/>
              <a:buChar char="o"/>
            </a:pPr>
            <a:r>
              <a:rPr lang="en-US" sz="1600" b="1" dirty="0"/>
              <a:t>WHERE – Filters records.</a:t>
            </a:r>
          </a:p>
          <a:p>
            <a:pPr marL="285750" indent="-285750">
              <a:buFont typeface="Courier New" panose="02070309020205020404" pitchFamily="49" charset="0"/>
              <a:buChar char="o"/>
            </a:pPr>
            <a:endParaRPr lang="en-US" sz="1600" b="1" dirty="0"/>
          </a:p>
          <a:p>
            <a:pPr marL="285750" indent="-285750">
              <a:buFont typeface="Courier New" panose="02070309020205020404" pitchFamily="49" charset="0"/>
              <a:buChar char="o"/>
            </a:pPr>
            <a:r>
              <a:rPr lang="en-US" sz="1600" b="1" dirty="0"/>
              <a:t>ORDER BY – Sorts records.</a:t>
            </a:r>
          </a:p>
          <a:p>
            <a:pPr marL="285750" indent="-285750">
              <a:buFont typeface="Courier New" panose="02070309020205020404" pitchFamily="49" charset="0"/>
              <a:buChar char="o"/>
            </a:pPr>
            <a:endParaRPr lang="en-US" sz="1600" b="1" dirty="0"/>
          </a:p>
          <a:p>
            <a:pPr marL="285750" indent="-285750">
              <a:buFont typeface="Courier New" panose="02070309020205020404" pitchFamily="49" charset="0"/>
              <a:buChar char="o"/>
            </a:pPr>
            <a:r>
              <a:rPr lang="en-US" sz="1600" b="1" dirty="0"/>
              <a:t>JOIN – Combines data from tables.</a:t>
            </a:r>
          </a:p>
          <a:p>
            <a:pPr marL="285750" indent="-285750">
              <a:buFont typeface="Courier New" panose="02070309020205020404" pitchFamily="49" charset="0"/>
              <a:buChar char="o"/>
            </a:pPr>
            <a:endParaRPr lang="en-US" sz="1600" b="1" dirty="0"/>
          </a:p>
          <a:p>
            <a:pPr marL="285750" indent="-285750">
              <a:buFont typeface="Courier New" panose="02070309020205020404" pitchFamily="49" charset="0"/>
              <a:buChar char="o"/>
            </a:pPr>
            <a:r>
              <a:rPr lang="en-US" sz="1600" b="1" dirty="0"/>
              <a:t>GROUP BY – Groups records.</a:t>
            </a:r>
          </a:p>
          <a:p>
            <a:pPr marL="285750" indent="-285750">
              <a:buFont typeface="Courier New" panose="02070309020205020404" pitchFamily="49" charset="0"/>
              <a:buChar char="o"/>
            </a:pPr>
            <a:endParaRPr lang="en-US" sz="1600" b="1" dirty="0"/>
          </a:p>
          <a:p>
            <a:pPr marL="285750" indent="-285750">
              <a:buFont typeface="Courier New" panose="02070309020205020404" pitchFamily="49" charset="0"/>
              <a:buChar char="o"/>
            </a:pPr>
            <a:r>
              <a:rPr lang="en-US" sz="1600" b="1" dirty="0"/>
              <a:t>HAVING – Filters grouped data.</a:t>
            </a:r>
            <a:endParaRPr lang="en-IN" sz="1600" b="1" dirty="0"/>
          </a:p>
        </p:txBody>
      </p:sp>
      <p:sp>
        <p:nvSpPr>
          <p:cNvPr id="33" name="Rectangle: Rounded Corners 32">
            <a:extLst>
              <a:ext uri="{FF2B5EF4-FFF2-40B4-BE49-F238E27FC236}">
                <a16:creationId xmlns:a16="http://schemas.microsoft.com/office/drawing/2014/main" id="{A2F7C7ED-63D1-1664-7F3C-E6EF3936F782}"/>
              </a:ext>
            </a:extLst>
          </p:cNvPr>
          <p:cNvSpPr/>
          <p:nvPr/>
        </p:nvSpPr>
        <p:spPr>
          <a:xfrm>
            <a:off x="5439293" y="4114799"/>
            <a:ext cx="1751104" cy="522565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61891779-2225-43BB-FEAD-2D7959F21BA3}"/>
              </a:ext>
            </a:extLst>
          </p:cNvPr>
          <p:cNvSpPr txBox="1"/>
          <p:nvPr/>
        </p:nvSpPr>
        <p:spPr>
          <a:xfrm>
            <a:off x="5562600" y="4170624"/>
            <a:ext cx="130035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chemeClr val="bg1"/>
                </a:solidFill>
              </a:rPr>
              <a:t>EXAMPLE</a:t>
            </a:r>
            <a:endParaRPr lang="en-IN" b="1" dirty="0">
              <a:solidFill>
                <a:schemeClr val="bg1"/>
              </a:solidFill>
            </a:endParaRP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D73E6D44-3CBA-1BE2-1325-127CE47EE424}"/>
              </a:ext>
            </a:extLst>
          </p:cNvPr>
          <p:cNvSpPr txBox="1"/>
          <p:nvPr/>
        </p:nvSpPr>
        <p:spPr>
          <a:xfrm>
            <a:off x="5737302" y="5298733"/>
            <a:ext cx="3121367" cy="147732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chemeClr val="tx1"/>
                </a:solidFill>
              </a:rPr>
              <a:t>SELECT </a:t>
            </a:r>
            <a:r>
              <a:rPr lang="en-US" b="1" dirty="0" err="1">
                <a:solidFill>
                  <a:schemeClr val="tx1"/>
                </a:solidFill>
              </a:rPr>
              <a:t>student_id</a:t>
            </a:r>
            <a:r>
              <a:rPr lang="en-US" b="1" dirty="0">
                <a:solidFill>
                  <a:schemeClr val="tx1"/>
                </a:solidFill>
              </a:rPr>
              <a:t>, email;</a:t>
            </a:r>
          </a:p>
          <a:p>
            <a:r>
              <a:rPr lang="en-US" b="1" dirty="0">
                <a:solidFill>
                  <a:schemeClr val="tx1"/>
                </a:solidFill>
              </a:rPr>
              <a:t>FROM Student</a:t>
            </a:r>
          </a:p>
          <a:p>
            <a:r>
              <a:rPr lang="en-US" b="1" dirty="0">
                <a:solidFill>
                  <a:schemeClr val="tx1"/>
                </a:solidFill>
              </a:rPr>
              <a:t>WHERE </a:t>
            </a:r>
            <a:r>
              <a:rPr lang="en-US" b="1" dirty="0" err="1">
                <a:solidFill>
                  <a:schemeClr val="tx1"/>
                </a:solidFill>
              </a:rPr>
              <a:t>dept_id</a:t>
            </a:r>
            <a:r>
              <a:rPr lang="en-US" b="1" dirty="0">
                <a:solidFill>
                  <a:schemeClr val="tx1"/>
                </a:solidFill>
              </a:rPr>
              <a:t> = 1</a:t>
            </a:r>
          </a:p>
          <a:p>
            <a:r>
              <a:rPr lang="en-US" b="1" dirty="0">
                <a:solidFill>
                  <a:schemeClr val="tx1"/>
                </a:solidFill>
              </a:rPr>
              <a:t>ORDER BY </a:t>
            </a:r>
            <a:r>
              <a:rPr lang="en-US" b="1" dirty="0" err="1">
                <a:solidFill>
                  <a:schemeClr val="tx1"/>
                </a:solidFill>
              </a:rPr>
              <a:t>student_id</a:t>
            </a:r>
            <a:r>
              <a:rPr lang="en-US" b="1" dirty="0">
                <a:solidFill>
                  <a:schemeClr val="tx1"/>
                </a:solidFill>
              </a:rPr>
              <a:t>;</a:t>
            </a:r>
            <a:endParaRPr lang="en-IN" b="1" dirty="0">
              <a:solidFill>
                <a:schemeClr val="tx1"/>
              </a:solidFill>
            </a:endParaRPr>
          </a:p>
          <a:p>
            <a:endParaRPr lang="en-IN" dirty="0">
              <a:solidFill>
                <a:schemeClr val="tx1"/>
              </a:solidFill>
            </a:endParaRPr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4A188D46-7AF8-202D-F132-5535350670C2}"/>
              </a:ext>
            </a:extLst>
          </p:cNvPr>
          <p:cNvSpPr/>
          <p:nvPr/>
        </p:nvSpPr>
        <p:spPr>
          <a:xfrm>
            <a:off x="5445276" y="5095824"/>
            <a:ext cx="4238107" cy="1762175"/>
          </a:xfrm>
          <a:prstGeom prst="rect">
            <a:avLst/>
          </a:prstGeom>
          <a:solidFill>
            <a:schemeClr val="accent1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607726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994C3EB-A702-D17F-4829-E37569932D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Box 14">
            <a:extLst>
              <a:ext uri="{FF2B5EF4-FFF2-40B4-BE49-F238E27FC236}">
                <a16:creationId xmlns:a16="http://schemas.microsoft.com/office/drawing/2014/main" id="{C94372AF-741E-13F0-7A49-5899AAA88E58}"/>
              </a:ext>
            </a:extLst>
          </p:cNvPr>
          <p:cNvSpPr txBox="1"/>
          <p:nvPr/>
        </p:nvSpPr>
        <p:spPr>
          <a:xfrm>
            <a:off x="4412373" y="321324"/>
            <a:ext cx="5029200" cy="3924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95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IMPLEMENTATION</a:t>
            </a:r>
          </a:p>
        </p:txBody>
      </p:sp>
      <p:pic>
        <p:nvPicPr>
          <p:cNvPr id="17" name="object 3">
            <a:extLst>
              <a:ext uri="{FF2B5EF4-FFF2-40B4-BE49-F238E27FC236}">
                <a16:creationId xmlns:a16="http://schemas.microsoft.com/office/drawing/2014/main" id="{A1EEC003-D96B-9878-B867-CB3E416DA499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90750" y="204311"/>
            <a:ext cx="1163002" cy="424338"/>
          </a:xfrm>
          <a:prstGeom prst="rect">
            <a:avLst/>
          </a:prstGeom>
        </p:spPr>
      </p:pic>
      <p:grpSp>
        <p:nvGrpSpPr>
          <p:cNvPr id="2" name="object 3">
            <a:extLst>
              <a:ext uri="{FF2B5EF4-FFF2-40B4-BE49-F238E27FC236}">
                <a16:creationId xmlns:a16="http://schemas.microsoft.com/office/drawing/2014/main" id="{444C8BDC-1408-2F08-ECFE-24342F99259F}"/>
              </a:ext>
            </a:extLst>
          </p:cNvPr>
          <p:cNvGrpSpPr/>
          <p:nvPr/>
        </p:nvGrpSpPr>
        <p:grpSpPr>
          <a:xfrm>
            <a:off x="2667000" y="85008"/>
            <a:ext cx="5103904" cy="1198311"/>
            <a:chOff x="2648188" y="47148"/>
            <a:chExt cx="5103904" cy="1198311"/>
          </a:xfrm>
        </p:grpSpPr>
        <p:pic>
          <p:nvPicPr>
            <p:cNvPr id="3" name="object 4">
              <a:extLst>
                <a:ext uri="{FF2B5EF4-FFF2-40B4-BE49-F238E27FC236}">
                  <a16:creationId xmlns:a16="http://schemas.microsoft.com/office/drawing/2014/main" id="{486D7949-B407-1EA2-DD79-8A477F1C214A}"/>
                </a:ext>
              </a:extLst>
            </p:cNvPr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648188" y="47148"/>
              <a:ext cx="5103904" cy="1198311"/>
            </a:xfrm>
            <a:prstGeom prst="rect">
              <a:avLst/>
            </a:prstGeom>
          </p:spPr>
        </p:pic>
        <p:pic>
          <p:nvPicPr>
            <p:cNvPr id="4" name="object 5">
              <a:extLst>
                <a:ext uri="{FF2B5EF4-FFF2-40B4-BE49-F238E27FC236}">
                  <a16:creationId xmlns:a16="http://schemas.microsoft.com/office/drawing/2014/main" id="{AF19115A-194D-B4F3-FDC6-80C7A9EAC643}"/>
                </a:ext>
              </a:extLst>
            </p:cNvPr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703195" y="86439"/>
              <a:ext cx="4997767" cy="1092279"/>
            </a:xfrm>
            <a:prstGeom prst="rect">
              <a:avLst/>
            </a:prstGeom>
          </p:spPr>
        </p:pic>
        <p:pic>
          <p:nvPicPr>
            <p:cNvPr id="5" name="object 6">
              <a:extLst>
                <a:ext uri="{FF2B5EF4-FFF2-40B4-BE49-F238E27FC236}">
                  <a16:creationId xmlns:a16="http://schemas.microsoft.com/office/drawing/2014/main" id="{E665D128-267F-2426-96EF-5BA2DC13C642}"/>
                </a:ext>
              </a:extLst>
            </p:cNvPr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2828925" y="243549"/>
              <a:ext cx="4585268" cy="522565"/>
            </a:xfrm>
            <a:prstGeom prst="rect">
              <a:avLst/>
            </a:prstGeom>
          </p:spPr>
        </p:pic>
        <p:sp>
          <p:nvSpPr>
            <p:cNvPr id="6" name="object 7">
              <a:extLst>
                <a:ext uri="{FF2B5EF4-FFF2-40B4-BE49-F238E27FC236}">
                  <a16:creationId xmlns:a16="http://schemas.microsoft.com/office/drawing/2014/main" id="{CBF6A033-32D1-951A-E7A6-E89336F7E40B}"/>
                </a:ext>
              </a:extLst>
            </p:cNvPr>
            <p:cNvSpPr/>
            <p:nvPr/>
          </p:nvSpPr>
          <p:spPr>
            <a:xfrm>
              <a:off x="2883931" y="282892"/>
              <a:ext cx="4479290" cy="416559"/>
            </a:xfrm>
            <a:custGeom>
              <a:avLst/>
              <a:gdLst/>
              <a:ahLst/>
              <a:cxnLst/>
              <a:rect l="l" t="t" r="r" b="b"/>
              <a:pathLst>
                <a:path w="4479290" h="416559">
                  <a:moveTo>
                    <a:pt x="4394158" y="0"/>
                  </a:moveTo>
                  <a:lnTo>
                    <a:pt x="84972" y="0"/>
                  </a:lnTo>
                  <a:lnTo>
                    <a:pt x="51863" y="5448"/>
                  </a:lnTo>
                  <a:lnTo>
                    <a:pt x="24831" y="20326"/>
                  </a:lnTo>
                  <a:lnTo>
                    <a:pt x="6705" y="42329"/>
                  </a:lnTo>
                  <a:lnTo>
                    <a:pt x="0" y="69361"/>
                  </a:lnTo>
                  <a:lnTo>
                    <a:pt x="0" y="346910"/>
                  </a:lnTo>
                  <a:lnTo>
                    <a:pt x="6705" y="373941"/>
                  </a:lnTo>
                  <a:lnTo>
                    <a:pt x="24831" y="395944"/>
                  </a:lnTo>
                  <a:lnTo>
                    <a:pt x="51863" y="410822"/>
                  </a:lnTo>
                  <a:lnTo>
                    <a:pt x="84972" y="416271"/>
                  </a:lnTo>
                  <a:lnTo>
                    <a:pt x="4394158" y="416271"/>
                  </a:lnTo>
                  <a:lnTo>
                    <a:pt x="4427267" y="410822"/>
                  </a:lnTo>
                  <a:lnTo>
                    <a:pt x="4454299" y="395944"/>
                  </a:lnTo>
                  <a:lnTo>
                    <a:pt x="4472425" y="373941"/>
                  </a:lnTo>
                  <a:lnTo>
                    <a:pt x="4479131" y="346910"/>
                  </a:lnTo>
                  <a:lnTo>
                    <a:pt x="4479131" y="69361"/>
                  </a:lnTo>
                  <a:lnTo>
                    <a:pt x="4472425" y="42329"/>
                  </a:lnTo>
                  <a:lnTo>
                    <a:pt x="4454299" y="20326"/>
                  </a:lnTo>
                  <a:lnTo>
                    <a:pt x="4427267" y="5448"/>
                  </a:lnTo>
                  <a:lnTo>
                    <a:pt x="4394158" y="0"/>
                  </a:lnTo>
                  <a:close/>
                </a:path>
              </a:pathLst>
            </a:custGeom>
            <a:solidFill>
              <a:srgbClr val="FF6600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</p:grpSp>
      <p:sp>
        <p:nvSpPr>
          <p:cNvPr id="7" name="TextBox 6">
            <a:extLst>
              <a:ext uri="{FF2B5EF4-FFF2-40B4-BE49-F238E27FC236}">
                <a16:creationId xmlns:a16="http://schemas.microsoft.com/office/drawing/2014/main" id="{0A3D4540-9EF3-DE22-0F98-4B4BAC3FACC2}"/>
              </a:ext>
            </a:extLst>
          </p:cNvPr>
          <p:cNvSpPr txBox="1"/>
          <p:nvPr/>
        </p:nvSpPr>
        <p:spPr>
          <a:xfrm>
            <a:off x="3644332" y="321324"/>
            <a:ext cx="4585268" cy="3924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95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CRUD &amp; SQL QUERIES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E81092A9-D855-E130-798E-DB2632D45ADD}"/>
              </a:ext>
            </a:extLst>
          </p:cNvPr>
          <p:cNvSpPr/>
          <p:nvPr/>
        </p:nvSpPr>
        <p:spPr>
          <a:xfrm>
            <a:off x="199350" y="1320749"/>
            <a:ext cx="2848650" cy="3031945"/>
          </a:xfrm>
          <a:prstGeom prst="round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9E0F5357-1B61-8E65-67DF-E716462BB2B4}"/>
              </a:ext>
            </a:extLst>
          </p:cNvPr>
          <p:cNvSpPr/>
          <p:nvPr/>
        </p:nvSpPr>
        <p:spPr>
          <a:xfrm>
            <a:off x="3428999" y="1380110"/>
            <a:ext cx="2779384" cy="2963290"/>
          </a:xfrm>
          <a:prstGeom prst="round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64A2C9F7-5843-93E5-C7B1-4CD11C588C79}"/>
              </a:ext>
            </a:extLst>
          </p:cNvPr>
          <p:cNvSpPr/>
          <p:nvPr/>
        </p:nvSpPr>
        <p:spPr>
          <a:xfrm>
            <a:off x="6589385" y="1311456"/>
            <a:ext cx="3088015" cy="3031944"/>
          </a:xfrm>
          <a:prstGeom prst="round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F2EE3563-37E4-807C-8DBC-BEC6CC53BBEF}"/>
              </a:ext>
            </a:extLst>
          </p:cNvPr>
          <p:cNvSpPr/>
          <p:nvPr/>
        </p:nvSpPr>
        <p:spPr>
          <a:xfrm>
            <a:off x="290931" y="4639014"/>
            <a:ext cx="2779384" cy="2794049"/>
          </a:xfrm>
          <a:prstGeom prst="round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3AADD4D6-42FF-FDD6-2A82-59B462BE0A47}"/>
              </a:ext>
            </a:extLst>
          </p:cNvPr>
          <p:cNvSpPr/>
          <p:nvPr/>
        </p:nvSpPr>
        <p:spPr>
          <a:xfrm>
            <a:off x="3429000" y="4639013"/>
            <a:ext cx="2779385" cy="2794049"/>
          </a:xfrm>
          <a:prstGeom prst="round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E59BBDA0-28A8-E751-CE8F-DE805CCD486F}"/>
              </a:ext>
            </a:extLst>
          </p:cNvPr>
          <p:cNvSpPr/>
          <p:nvPr/>
        </p:nvSpPr>
        <p:spPr>
          <a:xfrm>
            <a:off x="6662188" y="4637154"/>
            <a:ext cx="3015211" cy="2794049"/>
          </a:xfrm>
          <a:prstGeom prst="round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CD57ED3F-A1EA-C776-2C20-B0702D8CB932}"/>
              </a:ext>
            </a:extLst>
          </p:cNvPr>
          <p:cNvSpPr/>
          <p:nvPr/>
        </p:nvSpPr>
        <p:spPr>
          <a:xfrm>
            <a:off x="199349" y="1258306"/>
            <a:ext cx="2859810" cy="523220"/>
          </a:xfrm>
          <a:prstGeom prst="roundRect">
            <a:avLst/>
          </a:prstGeom>
          <a:solidFill>
            <a:schemeClr val="accent6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EAC55BE9-D6B5-601C-B8B5-9A9D42AADF6A}"/>
              </a:ext>
            </a:extLst>
          </p:cNvPr>
          <p:cNvSpPr/>
          <p:nvPr/>
        </p:nvSpPr>
        <p:spPr>
          <a:xfrm>
            <a:off x="3417841" y="4581565"/>
            <a:ext cx="2801701" cy="486784"/>
          </a:xfrm>
          <a:prstGeom prst="roundRect">
            <a:avLst/>
          </a:prstGeom>
          <a:solidFill>
            <a:schemeClr val="accent6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D4038FF3-43C5-675D-B02A-B1792404F653}"/>
              </a:ext>
            </a:extLst>
          </p:cNvPr>
          <p:cNvSpPr/>
          <p:nvPr/>
        </p:nvSpPr>
        <p:spPr>
          <a:xfrm>
            <a:off x="6589385" y="1233868"/>
            <a:ext cx="3088015" cy="486784"/>
          </a:xfrm>
          <a:prstGeom prst="roundRect">
            <a:avLst/>
          </a:prstGeom>
          <a:solidFill>
            <a:schemeClr val="accent6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1" name="Rectangle: Rounded Corners 20">
            <a:extLst>
              <a:ext uri="{FF2B5EF4-FFF2-40B4-BE49-F238E27FC236}">
                <a16:creationId xmlns:a16="http://schemas.microsoft.com/office/drawing/2014/main" id="{4365E6A5-2173-2F10-FF5C-0185D4955165}"/>
              </a:ext>
            </a:extLst>
          </p:cNvPr>
          <p:cNvSpPr/>
          <p:nvPr/>
        </p:nvSpPr>
        <p:spPr>
          <a:xfrm>
            <a:off x="3428999" y="1254342"/>
            <a:ext cx="2779383" cy="486784"/>
          </a:xfrm>
          <a:prstGeom prst="roundRect">
            <a:avLst/>
          </a:prstGeom>
          <a:solidFill>
            <a:schemeClr val="accent1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2" name="Rectangle: Rounded Corners 21">
            <a:extLst>
              <a:ext uri="{FF2B5EF4-FFF2-40B4-BE49-F238E27FC236}">
                <a16:creationId xmlns:a16="http://schemas.microsoft.com/office/drawing/2014/main" id="{4A8B8C93-5E32-0347-ABA0-AC55C44B7642}"/>
              </a:ext>
            </a:extLst>
          </p:cNvPr>
          <p:cNvSpPr/>
          <p:nvPr/>
        </p:nvSpPr>
        <p:spPr>
          <a:xfrm>
            <a:off x="290932" y="4585036"/>
            <a:ext cx="2779383" cy="486784"/>
          </a:xfrm>
          <a:prstGeom prst="roundRect">
            <a:avLst/>
          </a:prstGeom>
          <a:solidFill>
            <a:schemeClr val="accent1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3" name="Rectangle: Rounded Corners 22">
            <a:extLst>
              <a:ext uri="{FF2B5EF4-FFF2-40B4-BE49-F238E27FC236}">
                <a16:creationId xmlns:a16="http://schemas.microsoft.com/office/drawing/2014/main" id="{B7A6AD0C-FB44-E1E4-F029-FCACD1BB3992}"/>
              </a:ext>
            </a:extLst>
          </p:cNvPr>
          <p:cNvSpPr/>
          <p:nvPr/>
        </p:nvSpPr>
        <p:spPr>
          <a:xfrm>
            <a:off x="6662183" y="4584929"/>
            <a:ext cx="3015211" cy="483420"/>
          </a:xfrm>
          <a:prstGeom prst="roundRect">
            <a:avLst/>
          </a:prstGeom>
          <a:solidFill>
            <a:schemeClr val="accent1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8BCF4027-0920-0EE6-C899-0D07EDD0F23B}"/>
              </a:ext>
            </a:extLst>
          </p:cNvPr>
          <p:cNvSpPr txBox="1"/>
          <p:nvPr/>
        </p:nvSpPr>
        <p:spPr>
          <a:xfrm>
            <a:off x="257455" y="1371460"/>
            <a:ext cx="2692791" cy="38298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bg1"/>
                </a:solidFill>
              </a:rPr>
              <a:t>1. CRUD OPERATIONS</a:t>
            </a:r>
            <a:endParaRPr lang="en-IN" b="1" dirty="0">
              <a:solidFill>
                <a:schemeClr val="bg1"/>
              </a:solidFill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8523E30E-A04E-46C3-1045-FF021440A10E}"/>
              </a:ext>
            </a:extLst>
          </p:cNvPr>
          <p:cNvSpPr txBox="1"/>
          <p:nvPr/>
        </p:nvSpPr>
        <p:spPr>
          <a:xfrm>
            <a:off x="3494549" y="1301904"/>
            <a:ext cx="113364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chemeClr val="bg1"/>
                </a:solidFill>
              </a:rPr>
              <a:t>2. JOINS</a:t>
            </a:r>
            <a:endParaRPr lang="en-IN" b="1" dirty="0">
              <a:solidFill>
                <a:schemeClr val="bg1"/>
              </a:solidFill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E645A4AA-E3ED-4C15-2F50-A4FB50DE98A1}"/>
              </a:ext>
            </a:extLst>
          </p:cNvPr>
          <p:cNvSpPr txBox="1"/>
          <p:nvPr/>
        </p:nvSpPr>
        <p:spPr>
          <a:xfrm>
            <a:off x="6647492" y="1294166"/>
            <a:ext cx="29718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dirty="0">
                <a:solidFill>
                  <a:schemeClr val="bg1"/>
                </a:solidFill>
              </a:rPr>
              <a:t>3.AGGREGATE FUNCTIONS</a:t>
            </a:r>
            <a:endParaRPr lang="en-IN" sz="1600" b="1" dirty="0">
              <a:solidFill>
                <a:schemeClr val="bg1"/>
              </a:solidFill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946449D2-B311-D756-90E7-8CD7094F2D08}"/>
              </a:ext>
            </a:extLst>
          </p:cNvPr>
          <p:cNvSpPr txBox="1"/>
          <p:nvPr/>
        </p:nvSpPr>
        <p:spPr>
          <a:xfrm>
            <a:off x="305618" y="4637154"/>
            <a:ext cx="189026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chemeClr val="bg1"/>
                </a:solidFill>
              </a:rPr>
              <a:t>4.SUBQUERIES</a:t>
            </a:r>
            <a:endParaRPr lang="en-IN" b="1" dirty="0">
              <a:solidFill>
                <a:schemeClr val="bg1"/>
              </a:solidFill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3F7464CE-B432-5184-9818-AB6C34954B82}"/>
              </a:ext>
            </a:extLst>
          </p:cNvPr>
          <p:cNvSpPr txBox="1"/>
          <p:nvPr/>
        </p:nvSpPr>
        <p:spPr>
          <a:xfrm>
            <a:off x="3525966" y="4670040"/>
            <a:ext cx="11849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chemeClr val="bg1"/>
                </a:solidFill>
              </a:rPr>
              <a:t>5. VIEWS</a:t>
            </a:r>
            <a:endParaRPr lang="en-IN" b="1" dirty="0">
              <a:solidFill>
                <a:schemeClr val="bg1"/>
              </a:solidFill>
            </a:endParaRP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4A0B4C61-0849-4724-47A1-EF22F8860C17}"/>
              </a:ext>
            </a:extLst>
          </p:cNvPr>
          <p:cNvSpPr txBox="1"/>
          <p:nvPr/>
        </p:nvSpPr>
        <p:spPr>
          <a:xfrm>
            <a:off x="6700948" y="4636586"/>
            <a:ext cx="286488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chemeClr val="bg1"/>
                </a:solidFill>
              </a:rPr>
              <a:t>6. GROUP BY &amp; HAVING</a:t>
            </a:r>
            <a:endParaRPr lang="en-IN" b="1" dirty="0">
              <a:solidFill>
                <a:schemeClr val="bg1"/>
              </a:solidFill>
            </a:endParaRP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B4DD3B80-C2F5-EBFD-4F13-242FDE56DC34}"/>
              </a:ext>
            </a:extLst>
          </p:cNvPr>
          <p:cNvSpPr txBox="1"/>
          <p:nvPr/>
        </p:nvSpPr>
        <p:spPr>
          <a:xfrm>
            <a:off x="337502" y="1810127"/>
            <a:ext cx="258672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/>
              <a:t>Used to manage data in the data base.</a:t>
            </a:r>
            <a:endParaRPr lang="en-IN" sz="1400" b="1" dirty="0"/>
          </a:p>
        </p:txBody>
      </p:sp>
      <p:sp>
        <p:nvSpPr>
          <p:cNvPr id="31" name="Shape 10">
            <a:extLst>
              <a:ext uri="{FF2B5EF4-FFF2-40B4-BE49-F238E27FC236}">
                <a16:creationId xmlns:a16="http://schemas.microsoft.com/office/drawing/2014/main" id="{6CABE72F-209B-93DC-5859-C04D5F03DB76}"/>
              </a:ext>
            </a:extLst>
          </p:cNvPr>
          <p:cNvSpPr/>
          <p:nvPr/>
        </p:nvSpPr>
        <p:spPr>
          <a:xfrm>
            <a:off x="366132" y="2815670"/>
            <a:ext cx="457200" cy="472097"/>
          </a:xfrm>
          <a:prstGeom prst="ellipse">
            <a:avLst/>
          </a:prstGeom>
          <a:solidFill>
            <a:srgbClr val="1B3A6B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IN" dirty="0"/>
          </a:p>
        </p:txBody>
      </p:sp>
      <p:sp>
        <p:nvSpPr>
          <p:cNvPr id="32" name="Shape 22">
            <a:extLst>
              <a:ext uri="{FF2B5EF4-FFF2-40B4-BE49-F238E27FC236}">
                <a16:creationId xmlns:a16="http://schemas.microsoft.com/office/drawing/2014/main" id="{25D4B96C-CB30-740B-364A-4D1B1C03C3B7}"/>
              </a:ext>
            </a:extLst>
          </p:cNvPr>
          <p:cNvSpPr/>
          <p:nvPr/>
        </p:nvSpPr>
        <p:spPr>
          <a:xfrm>
            <a:off x="366132" y="2308334"/>
            <a:ext cx="457200" cy="472097"/>
          </a:xfrm>
          <a:prstGeom prst="ellipse">
            <a:avLst/>
          </a:prstGeom>
          <a:solidFill>
            <a:srgbClr val="E87722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IN" sz="2000" b="1" dirty="0">
              <a:solidFill>
                <a:schemeClr val="bg1"/>
              </a:solidFill>
            </a:endParaRPr>
          </a:p>
        </p:txBody>
      </p:sp>
      <p:sp>
        <p:nvSpPr>
          <p:cNvPr id="34" name="Shape 22">
            <a:extLst>
              <a:ext uri="{FF2B5EF4-FFF2-40B4-BE49-F238E27FC236}">
                <a16:creationId xmlns:a16="http://schemas.microsoft.com/office/drawing/2014/main" id="{88195AFF-A88B-D23F-455E-2D2B39CF59FD}"/>
              </a:ext>
            </a:extLst>
          </p:cNvPr>
          <p:cNvSpPr/>
          <p:nvPr/>
        </p:nvSpPr>
        <p:spPr>
          <a:xfrm>
            <a:off x="366132" y="3323006"/>
            <a:ext cx="457200" cy="472097"/>
          </a:xfrm>
          <a:prstGeom prst="ellipse">
            <a:avLst/>
          </a:prstGeom>
          <a:solidFill>
            <a:srgbClr val="E87722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IN" dirty="0"/>
          </a:p>
        </p:txBody>
      </p:sp>
      <p:sp>
        <p:nvSpPr>
          <p:cNvPr id="35" name="Shape 10">
            <a:extLst>
              <a:ext uri="{FF2B5EF4-FFF2-40B4-BE49-F238E27FC236}">
                <a16:creationId xmlns:a16="http://schemas.microsoft.com/office/drawing/2014/main" id="{DAB39942-838F-62F8-C3BB-81FBDA1FDAA9}"/>
              </a:ext>
            </a:extLst>
          </p:cNvPr>
          <p:cNvSpPr/>
          <p:nvPr/>
        </p:nvSpPr>
        <p:spPr>
          <a:xfrm>
            <a:off x="363522" y="3837850"/>
            <a:ext cx="457200" cy="472097"/>
          </a:xfrm>
          <a:prstGeom prst="ellipse">
            <a:avLst/>
          </a:prstGeom>
          <a:solidFill>
            <a:srgbClr val="1B3A6B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IN" dirty="0"/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D6EC827D-3E7A-29AE-6C3D-FF8A7A7EF0BE}"/>
              </a:ext>
            </a:extLst>
          </p:cNvPr>
          <p:cNvSpPr txBox="1"/>
          <p:nvPr/>
        </p:nvSpPr>
        <p:spPr>
          <a:xfrm>
            <a:off x="416433" y="2352193"/>
            <a:ext cx="35137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chemeClr val="bg1"/>
                </a:solidFill>
              </a:rPr>
              <a:t>C</a:t>
            </a:r>
            <a:endParaRPr lang="en-IN" b="1" dirty="0">
              <a:solidFill>
                <a:schemeClr val="bg1"/>
              </a:solidFill>
            </a:endParaRP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A2B81255-9B30-BDA5-E53A-1FB3C7646E44}"/>
              </a:ext>
            </a:extLst>
          </p:cNvPr>
          <p:cNvSpPr txBox="1"/>
          <p:nvPr/>
        </p:nvSpPr>
        <p:spPr>
          <a:xfrm>
            <a:off x="416433" y="2863948"/>
            <a:ext cx="35137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chemeClr val="bg1"/>
                </a:solidFill>
              </a:rPr>
              <a:t>R</a:t>
            </a:r>
            <a:endParaRPr lang="en-IN" b="1" dirty="0">
              <a:solidFill>
                <a:schemeClr val="bg1"/>
              </a:solidFill>
            </a:endParaRP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9A14A400-3FE2-9879-540C-A3442953E43D}"/>
              </a:ext>
            </a:extLst>
          </p:cNvPr>
          <p:cNvSpPr txBox="1"/>
          <p:nvPr/>
        </p:nvSpPr>
        <p:spPr>
          <a:xfrm>
            <a:off x="416433" y="3358149"/>
            <a:ext cx="35137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chemeClr val="bg1"/>
                </a:solidFill>
              </a:rPr>
              <a:t>U</a:t>
            </a:r>
            <a:endParaRPr lang="en-IN" b="1" dirty="0">
              <a:solidFill>
                <a:schemeClr val="bg1"/>
              </a:solidFill>
            </a:endParaRP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D9E2C301-A2DD-158F-BFE3-04C79EE9B0D9}"/>
              </a:ext>
            </a:extLst>
          </p:cNvPr>
          <p:cNvSpPr txBox="1"/>
          <p:nvPr/>
        </p:nvSpPr>
        <p:spPr>
          <a:xfrm>
            <a:off x="416433" y="3878090"/>
            <a:ext cx="3803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bg1"/>
                </a:solidFill>
              </a:rPr>
              <a:t>D</a:t>
            </a:r>
            <a:endParaRPr lang="en-IN" b="1" dirty="0">
              <a:solidFill>
                <a:schemeClr val="bg1"/>
              </a:solidFill>
            </a:endParaRP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759FAD6F-5A6D-31D8-DB76-D6937FAD14E2}"/>
              </a:ext>
            </a:extLst>
          </p:cNvPr>
          <p:cNvSpPr txBox="1"/>
          <p:nvPr/>
        </p:nvSpPr>
        <p:spPr>
          <a:xfrm>
            <a:off x="840811" y="2361948"/>
            <a:ext cx="115127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b="1" dirty="0"/>
              <a:t>- CREATE</a:t>
            </a:r>
            <a:endParaRPr lang="en-IN" sz="1600" b="1" dirty="0"/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CC843B55-3107-0E36-C10C-4D487D0621E9}"/>
              </a:ext>
            </a:extLst>
          </p:cNvPr>
          <p:cNvSpPr txBox="1"/>
          <p:nvPr/>
        </p:nvSpPr>
        <p:spPr>
          <a:xfrm>
            <a:off x="892695" y="2865807"/>
            <a:ext cx="88998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b="1" dirty="0"/>
              <a:t>- READ</a:t>
            </a:r>
            <a:endParaRPr lang="en-IN" sz="1600" b="1" dirty="0"/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7DDDF54E-7CC8-78DB-7A90-1CE90CA00279}"/>
              </a:ext>
            </a:extLst>
          </p:cNvPr>
          <p:cNvSpPr txBox="1"/>
          <p:nvPr/>
        </p:nvSpPr>
        <p:spPr>
          <a:xfrm>
            <a:off x="892695" y="3352674"/>
            <a:ext cx="115127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b="1" dirty="0"/>
              <a:t>- UPDATE</a:t>
            </a:r>
            <a:endParaRPr lang="en-IN" sz="1600" b="1" dirty="0"/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43852950-03D1-E048-1C43-857FA456AA5B}"/>
              </a:ext>
            </a:extLst>
          </p:cNvPr>
          <p:cNvSpPr txBox="1"/>
          <p:nvPr/>
        </p:nvSpPr>
        <p:spPr>
          <a:xfrm>
            <a:off x="914993" y="3915505"/>
            <a:ext cx="1117614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b="1" dirty="0"/>
              <a:t>- DELETE</a:t>
            </a:r>
            <a:endParaRPr lang="en-IN" sz="1600" b="1" dirty="0"/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67F0DB7D-F2A9-0B47-5534-9C629799DB55}"/>
              </a:ext>
            </a:extLst>
          </p:cNvPr>
          <p:cNvSpPr txBox="1"/>
          <p:nvPr/>
        </p:nvSpPr>
        <p:spPr>
          <a:xfrm>
            <a:off x="3377402" y="1817443"/>
            <a:ext cx="3323546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b="1" dirty="0">
                <a:solidFill>
                  <a:schemeClr val="tx1"/>
                </a:solidFill>
              </a:rPr>
              <a:t>Combine data from </a:t>
            </a:r>
          </a:p>
          <a:p>
            <a:r>
              <a:rPr lang="en-US" sz="1600" b="1" dirty="0">
                <a:solidFill>
                  <a:schemeClr val="tx1"/>
                </a:solidFill>
              </a:rPr>
              <a:t>     multiple tables  (Student,    </a:t>
            </a:r>
          </a:p>
          <a:p>
            <a:r>
              <a:rPr lang="en-US" sz="1600" b="1" dirty="0">
                <a:solidFill>
                  <a:schemeClr val="tx1"/>
                </a:solidFill>
              </a:rPr>
              <a:t>     Course, Enrollment, </a:t>
            </a:r>
          </a:p>
          <a:p>
            <a:r>
              <a:rPr lang="en-US" sz="1600" b="1" dirty="0">
                <a:solidFill>
                  <a:schemeClr val="tx1"/>
                </a:solidFill>
              </a:rPr>
              <a:t>     Results).</a:t>
            </a:r>
            <a:endParaRPr lang="en-IN" sz="1600" b="1" dirty="0">
              <a:solidFill>
                <a:schemeClr val="tx1"/>
              </a:solidFill>
            </a:endParaRP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191F7227-BFDF-9DBF-2BC5-9A919FA77AE6}"/>
              </a:ext>
            </a:extLst>
          </p:cNvPr>
          <p:cNvSpPr txBox="1"/>
          <p:nvPr/>
        </p:nvSpPr>
        <p:spPr>
          <a:xfrm>
            <a:off x="3428999" y="2970223"/>
            <a:ext cx="2345514" cy="107721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b="1" dirty="0">
                <a:solidFill>
                  <a:schemeClr val="tx1"/>
                </a:solidFill>
              </a:rPr>
              <a:t>Used to generate </a:t>
            </a:r>
          </a:p>
          <a:p>
            <a:r>
              <a:rPr lang="en-US" sz="1600" b="1" dirty="0">
                <a:solidFill>
                  <a:schemeClr val="tx1"/>
                </a:solidFill>
              </a:rPr>
              <a:t>     student-wise result</a:t>
            </a:r>
          </a:p>
          <a:p>
            <a:r>
              <a:rPr lang="en-US" sz="1600" b="1" dirty="0">
                <a:solidFill>
                  <a:schemeClr val="tx1"/>
                </a:solidFill>
              </a:rPr>
              <a:t>     information</a:t>
            </a:r>
          </a:p>
          <a:p>
            <a:r>
              <a:rPr lang="en-US" sz="1600" b="1" dirty="0">
                <a:solidFill>
                  <a:schemeClr val="tx1"/>
                </a:solidFill>
              </a:rPr>
              <a:t>     </a:t>
            </a:r>
            <a:endParaRPr lang="en-IN" sz="1600" b="1" dirty="0">
              <a:solidFill>
                <a:schemeClr val="tx1"/>
              </a:solidFill>
            </a:endParaRP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67C38C7B-7093-6CF3-06BB-3D906574B254}"/>
              </a:ext>
            </a:extLst>
          </p:cNvPr>
          <p:cNvSpPr txBox="1"/>
          <p:nvPr/>
        </p:nvSpPr>
        <p:spPr>
          <a:xfrm>
            <a:off x="6592476" y="1767418"/>
            <a:ext cx="305704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/>
              <a:t>Used</a:t>
            </a:r>
            <a:r>
              <a:rPr lang="en-US" sz="1600" b="1" dirty="0"/>
              <a:t> to perform </a:t>
            </a:r>
            <a:r>
              <a:rPr lang="en-US" sz="1600" b="1" dirty="0" err="1"/>
              <a:t>caluculations</a:t>
            </a:r>
            <a:r>
              <a:rPr lang="en-US" sz="1600" b="1" dirty="0"/>
              <a:t> on a set of values.</a:t>
            </a:r>
            <a:endParaRPr lang="en-IN" sz="1600" b="1" dirty="0"/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75C3B445-5000-A45F-9B75-1B78133B8F63}"/>
              </a:ext>
            </a:extLst>
          </p:cNvPr>
          <p:cNvSpPr txBox="1"/>
          <p:nvPr/>
        </p:nvSpPr>
        <p:spPr>
          <a:xfrm>
            <a:off x="6641219" y="2328043"/>
            <a:ext cx="3082895" cy="181588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v"/>
            </a:pPr>
            <a:r>
              <a:rPr lang="en-US" sz="1600" b="1" dirty="0">
                <a:solidFill>
                  <a:schemeClr val="accent6"/>
                </a:solidFill>
              </a:rPr>
              <a:t>COUNT() </a:t>
            </a:r>
            <a:r>
              <a:rPr lang="en-US" sz="1600" b="1" dirty="0"/>
              <a:t>- Counts records</a:t>
            </a:r>
          </a:p>
          <a:p>
            <a:pPr marL="285750" indent="-285750">
              <a:buFont typeface="Wingdings" panose="05000000000000000000" pitchFamily="2" charset="2"/>
              <a:buChar char="v"/>
            </a:pPr>
            <a:endParaRPr lang="en-US" sz="1600" b="1" dirty="0"/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en-US" sz="1600" b="1" dirty="0">
                <a:solidFill>
                  <a:schemeClr val="accent6"/>
                </a:solidFill>
              </a:rPr>
              <a:t>MAX()   </a:t>
            </a:r>
            <a:r>
              <a:rPr lang="en-US" sz="1600" b="1" dirty="0"/>
              <a:t>-     Highest value</a:t>
            </a:r>
          </a:p>
          <a:p>
            <a:endParaRPr lang="en-US" sz="1600" b="1" dirty="0"/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en-US" sz="1600" b="1" dirty="0">
                <a:solidFill>
                  <a:schemeClr val="accent6"/>
                </a:solidFill>
              </a:rPr>
              <a:t>MIN()    </a:t>
            </a:r>
            <a:r>
              <a:rPr lang="en-US" sz="1600" b="1" dirty="0"/>
              <a:t>-      Lowest value</a:t>
            </a:r>
          </a:p>
          <a:p>
            <a:pPr marL="285750" indent="-285750">
              <a:buFont typeface="Wingdings" panose="05000000000000000000" pitchFamily="2" charset="2"/>
              <a:buChar char="v"/>
            </a:pPr>
            <a:endParaRPr lang="en-US" sz="1600" b="1" dirty="0"/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en-US" sz="1600" b="1" dirty="0">
                <a:solidFill>
                  <a:schemeClr val="accent6"/>
                </a:solidFill>
              </a:rPr>
              <a:t>AVG()   </a:t>
            </a:r>
            <a:r>
              <a:rPr lang="en-US" sz="1600" b="1" dirty="0"/>
              <a:t>-     Average value</a:t>
            </a:r>
            <a:endParaRPr lang="en-IN" sz="1600" b="1" dirty="0"/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222DDD46-F8AF-E0C1-FDFA-2304DE57FB62}"/>
              </a:ext>
            </a:extLst>
          </p:cNvPr>
          <p:cNvSpPr txBox="1"/>
          <p:nvPr/>
        </p:nvSpPr>
        <p:spPr>
          <a:xfrm>
            <a:off x="381001" y="5137163"/>
            <a:ext cx="2430474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b="1" dirty="0"/>
              <a:t>Used to get data </a:t>
            </a:r>
            <a:r>
              <a:rPr lang="en-US" sz="1600" b="1" dirty="0" err="1"/>
              <a:t>dased</a:t>
            </a:r>
            <a:endParaRPr lang="en-US" sz="1600" b="1" dirty="0"/>
          </a:p>
          <a:p>
            <a:r>
              <a:rPr lang="en-US" sz="1600" b="1" dirty="0"/>
              <a:t>On another query.</a:t>
            </a:r>
            <a:endParaRPr lang="en-IN" sz="1600" b="1" dirty="0"/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A65146EB-770C-3FD4-6558-D133D19737C5}"/>
              </a:ext>
            </a:extLst>
          </p:cNvPr>
          <p:cNvSpPr txBox="1"/>
          <p:nvPr/>
        </p:nvSpPr>
        <p:spPr>
          <a:xfrm>
            <a:off x="295211" y="5699994"/>
            <a:ext cx="2763948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sz="1600" b="1" dirty="0">
                <a:solidFill>
                  <a:schemeClr val="accent1"/>
                </a:solidFill>
              </a:rPr>
              <a:t>Find students who </a:t>
            </a:r>
          </a:p>
          <a:p>
            <a:r>
              <a:rPr lang="en-US" sz="1600" b="1" dirty="0">
                <a:solidFill>
                  <a:schemeClr val="accent1"/>
                </a:solidFill>
              </a:rPr>
              <a:t>     scored above the</a:t>
            </a:r>
          </a:p>
          <a:p>
            <a:r>
              <a:rPr lang="en-US" sz="1600" b="1" dirty="0">
                <a:solidFill>
                  <a:schemeClr val="accent1"/>
                </a:solidFill>
              </a:rPr>
              <a:t>     overall average.</a:t>
            </a:r>
            <a:endParaRPr lang="en-IN" sz="1600" b="1" dirty="0">
              <a:solidFill>
                <a:schemeClr val="accent1"/>
              </a:solidFill>
            </a:endParaRP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D58D2DB1-E74E-08A4-F2DE-E35C47B3B656}"/>
              </a:ext>
            </a:extLst>
          </p:cNvPr>
          <p:cNvSpPr txBox="1"/>
          <p:nvPr/>
        </p:nvSpPr>
        <p:spPr>
          <a:xfrm>
            <a:off x="320775" y="6516515"/>
            <a:ext cx="2400016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sz="1600" b="1" dirty="0">
                <a:solidFill>
                  <a:schemeClr val="accent1"/>
                </a:solidFill>
              </a:rPr>
              <a:t>Find each student’s</a:t>
            </a:r>
          </a:p>
          <a:p>
            <a:r>
              <a:rPr lang="en-US" sz="1600" b="1" dirty="0">
                <a:solidFill>
                  <a:schemeClr val="accent1"/>
                </a:solidFill>
              </a:rPr>
              <a:t>     best mark.</a:t>
            </a:r>
          </a:p>
          <a:p>
            <a:r>
              <a:rPr lang="en-US" sz="1600" b="1" dirty="0">
                <a:solidFill>
                  <a:schemeClr val="accent1"/>
                </a:solidFill>
              </a:rPr>
              <a:t>     </a:t>
            </a:r>
            <a:endParaRPr lang="en-IN" sz="1600" b="1" dirty="0">
              <a:solidFill>
                <a:schemeClr val="accent1"/>
              </a:solidFill>
            </a:endParaRP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4B2256A3-8E98-48C8-DD9F-6E5D5952F846}"/>
              </a:ext>
            </a:extLst>
          </p:cNvPr>
          <p:cNvSpPr txBox="1"/>
          <p:nvPr/>
        </p:nvSpPr>
        <p:spPr>
          <a:xfrm>
            <a:off x="3501805" y="5097621"/>
            <a:ext cx="2502608" cy="7848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500" b="1" dirty="0"/>
              <a:t>Used to simplify complex</a:t>
            </a:r>
          </a:p>
          <a:p>
            <a:r>
              <a:rPr lang="en-US" sz="1500" b="1" dirty="0"/>
              <a:t>Queries and provide a</a:t>
            </a:r>
          </a:p>
          <a:p>
            <a:r>
              <a:rPr lang="en-US" sz="1500" b="1" dirty="0"/>
              <a:t>Virtual table.</a:t>
            </a:r>
            <a:endParaRPr lang="en-IN" sz="1500" b="1" dirty="0"/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2AF2FBA1-7AC5-5FA8-44BE-37D2F8906AF0}"/>
              </a:ext>
            </a:extLst>
          </p:cNvPr>
          <p:cNvSpPr txBox="1"/>
          <p:nvPr/>
        </p:nvSpPr>
        <p:spPr>
          <a:xfrm>
            <a:off x="3490648" y="5815696"/>
            <a:ext cx="219322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sz="1400" b="1" dirty="0">
                <a:solidFill>
                  <a:schemeClr val="accent6"/>
                </a:solidFill>
              </a:rPr>
              <a:t>Student Result View</a:t>
            </a:r>
            <a:endParaRPr lang="en-IN" sz="1400" b="1" dirty="0">
              <a:solidFill>
                <a:schemeClr val="accent6"/>
              </a:solidFill>
            </a:endParaRP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8C142CB6-90D0-02FB-5FBC-0D57EC540952}"/>
              </a:ext>
            </a:extLst>
          </p:cNvPr>
          <p:cNvSpPr txBox="1"/>
          <p:nvPr/>
        </p:nvSpPr>
        <p:spPr>
          <a:xfrm>
            <a:off x="3670251" y="6051421"/>
            <a:ext cx="239200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dirty="0"/>
              <a:t>Shows student, course,</a:t>
            </a:r>
          </a:p>
          <a:p>
            <a:r>
              <a:rPr lang="en-US" sz="1400" b="1" dirty="0"/>
              <a:t>Marks, percentage, grade.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5F59C2C5-0D6A-D53A-DE73-5ED1AEED7F2E}"/>
              </a:ext>
            </a:extLst>
          </p:cNvPr>
          <p:cNvSpPr txBox="1"/>
          <p:nvPr/>
        </p:nvSpPr>
        <p:spPr>
          <a:xfrm>
            <a:off x="3506940" y="6516515"/>
            <a:ext cx="271260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sz="1400" b="1" dirty="0">
                <a:solidFill>
                  <a:schemeClr val="accent6"/>
                </a:solidFill>
              </a:rPr>
              <a:t>Department Strength View</a:t>
            </a:r>
            <a:endParaRPr lang="en-IN" sz="1400" b="1" dirty="0">
              <a:solidFill>
                <a:schemeClr val="accent6"/>
              </a:solidFill>
            </a:endParaRP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FDCB7D03-952C-F570-D35E-738A3A4C8A23}"/>
              </a:ext>
            </a:extLst>
          </p:cNvPr>
          <p:cNvSpPr txBox="1"/>
          <p:nvPr/>
        </p:nvSpPr>
        <p:spPr>
          <a:xfrm>
            <a:off x="3672594" y="6822048"/>
            <a:ext cx="248016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dirty="0"/>
              <a:t>Shows number of students</a:t>
            </a:r>
          </a:p>
          <a:p>
            <a:r>
              <a:rPr lang="en-US" sz="1400" b="1" dirty="0"/>
              <a:t> in each department.</a:t>
            </a:r>
            <a:endParaRPr lang="en-IN" sz="1400" b="1" dirty="0"/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43FEF547-9527-3F70-F11B-1C3297BB2863}"/>
              </a:ext>
            </a:extLst>
          </p:cNvPr>
          <p:cNvSpPr txBox="1"/>
          <p:nvPr/>
        </p:nvSpPr>
        <p:spPr>
          <a:xfrm>
            <a:off x="6887325" y="5097621"/>
            <a:ext cx="2467342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b="1" dirty="0">
                <a:solidFill>
                  <a:schemeClr val="tx1"/>
                </a:solidFill>
              </a:rPr>
              <a:t>Used to group records</a:t>
            </a:r>
          </a:p>
          <a:p>
            <a:r>
              <a:rPr lang="en-US" sz="1600" b="1" dirty="0">
                <a:solidFill>
                  <a:schemeClr val="tx1"/>
                </a:solidFill>
              </a:rPr>
              <a:t>and filter grouped data.</a:t>
            </a:r>
            <a:endParaRPr lang="en-IN" sz="1600" b="1" dirty="0">
              <a:solidFill>
                <a:schemeClr val="tx1"/>
              </a:solidFill>
            </a:endParaRP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65A1A383-B482-2185-77D6-5AE420D3222F}"/>
              </a:ext>
            </a:extLst>
          </p:cNvPr>
          <p:cNvSpPr txBox="1"/>
          <p:nvPr/>
        </p:nvSpPr>
        <p:spPr>
          <a:xfrm>
            <a:off x="6740221" y="5771969"/>
            <a:ext cx="278634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sz="1400" b="1" dirty="0">
                <a:solidFill>
                  <a:schemeClr val="accent1"/>
                </a:solidFill>
              </a:rPr>
              <a:t>GROUP BY </a:t>
            </a:r>
            <a:r>
              <a:rPr lang="en-US" sz="1400" b="1" dirty="0"/>
              <a:t>– Groups data</a:t>
            </a:r>
          </a:p>
          <a:p>
            <a:r>
              <a:rPr lang="en-US" sz="1400" b="1" dirty="0"/>
              <a:t>                              (</a:t>
            </a:r>
            <a:r>
              <a:rPr lang="en-US" sz="1400" b="1" dirty="0" err="1"/>
              <a:t>eg.</a:t>
            </a:r>
            <a:r>
              <a:rPr lang="en-US" sz="1400" b="1" dirty="0"/>
              <a:t>, by dept)</a:t>
            </a:r>
            <a:endParaRPr lang="en-IN" sz="1400" b="1" dirty="0"/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34E81184-41E2-234D-B023-C1725345A599}"/>
              </a:ext>
            </a:extLst>
          </p:cNvPr>
          <p:cNvSpPr txBox="1"/>
          <p:nvPr/>
        </p:nvSpPr>
        <p:spPr>
          <a:xfrm>
            <a:off x="6814388" y="6384762"/>
            <a:ext cx="2712602" cy="73866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sz="1400" b="1" dirty="0">
                <a:solidFill>
                  <a:schemeClr val="accent1"/>
                </a:solidFill>
              </a:rPr>
              <a:t>HAVING</a:t>
            </a:r>
            <a:r>
              <a:rPr lang="en-US" sz="1400" b="1" dirty="0"/>
              <a:t>  –  Filters groups </a:t>
            </a:r>
          </a:p>
          <a:p>
            <a:r>
              <a:rPr lang="en-US" sz="1400" b="1" dirty="0"/>
              <a:t>                          based on</a:t>
            </a:r>
          </a:p>
          <a:p>
            <a:r>
              <a:rPr lang="en-US" sz="1400" b="1" dirty="0"/>
              <a:t>                          conditions.</a:t>
            </a:r>
            <a:endParaRPr lang="en-IN" sz="1400" b="1" dirty="0"/>
          </a:p>
        </p:txBody>
      </p:sp>
    </p:spTree>
    <p:extLst>
      <p:ext uri="{BB962C8B-B14F-4D97-AF65-F5344CB8AC3E}">
        <p14:creationId xmlns:p14="http://schemas.microsoft.com/office/powerpoint/2010/main" val="2607726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994C3EB-A702-D17F-4829-E37569932D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Box 14">
            <a:extLst>
              <a:ext uri="{FF2B5EF4-FFF2-40B4-BE49-F238E27FC236}">
                <a16:creationId xmlns:a16="http://schemas.microsoft.com/office/drawing/2014/main" id="{C94372AF-741E-13F0-7A49-5899AAA88E58}"/>
              </a:ext>
            </a:extLst>
          </p:cNvPr>
          <p:cNvSpPr txBox="1"/>
          <p:nvPr/>
        </p:nvSpPr>
        <p:spPr>
          <a:xfrm>
            <a:off x="4412373" y="321324"/>
            <a:ext cx="5029200" cy="3924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95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IMPLEMENTATION</a:t>
            </a:r>
          </a:p>
        </p:txBody>
      </p:sp>
      <p:pic>
        <p:nvPicPr>
          <p:cNvPr id="17" name="object 3">
            <a:extLst>
              <a:ext uri="{FF2B5EF4-FFF2-40B4-BE49-F238E27FC236}">
                <a16:creationId xmlns:a16="http://schemas.microsoft.com/office/drawing/2014/main" id="{A1EEC003-D96B-9878-B867-CB3E416DA499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90750" y="204311"/>
            <a:ext cx="1163002" cy="424338"/>
          </a:xfrm>
          <a:prstGeom prst="rect">
            <a:avLst/>
          </a:prstGeom>
        </p:spPr>
      </p:pic>
      <p:grpSp>
        <p:nvGrpSpPr>
          <p:cNvPr id="2" name="object 3">
            <a:extLst>
              <a:ext uri="{FF2B5EF4-FFF2-40B4-BE49-F238E27FC236}">
                <a16:creationId xmlns:a16="http://schemas.microsoft.com/office/drawing/2014/main" id="{444C8BDC-1408-2F08-ECFE-24342F99259F}"/>
              </a:ext>
            </a:extLst>
          </p:cNvPr>
          <p:cNvGrpSpPr/>
          <p:nvPr/>
        </p:nvGrpSpPr>
        <p:grpSpPr>
          <a:xfrm>
            <a:off x="2590800" y="-163800"/>
            <a:ext cx="5103904" cy="1198311"/>
            <a:chOff x="2648188" y="47148"/>
            <a:chExt cx="5103904" cy="1198311"/>
          </a:xfrm>
        </p:grpSpPr>
        <p:pic>
          <p:nvPicPr>
            <p:cNvPr id="3" name="object 4">
              <a:extLst>
                <a:ext uri="{FF2B5EF4-FFF2-40B4-BE49-F238E27FC236}">
                  <a16:creationId xmlns:a16="http://schemas.microsoft.com/office/drawing/2014/main" id="{486D7949-B407-1EA2-DD79-8A477F1C214A}"/>
                </a:ext>
              </a:extLst>
            </p:cNvPr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648188" y="47148"/>
              <a:ext cx="5103904" cy="1198311"/>
            </a:xfrm>
            <a:prstGeom prst="rect">
              <a:avLst/>
            </a:prstGeom>
          </p:spPr>
        </p:pic>
        <p:pic>
          <p:nvPicPr>
            <p:cNvPr id="4" name="object 5">
              <a:extLst>
                <a:ext uri="{FF2B5EF4-FFF2-40B4-BE49-F238E27FC236}">
                  <a16:creationId xmlns:a16="http://schemas.microsoft.com/office/drawing/2014/main" id="{AF19115A-194D-B4F3-FDC6-80C7A9EAC643}"/>
                </a:ext>
              </a:extLst>
            </p:cNvPr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703195" y="86439"/>
              <a:ext cx="4997767" cy="1092279"/>
            </a:xfrm>
            <a:prstGeom prst="rect">
              <a:avLst/>
            </a:prstGeom>
          </p:spPr>
        </p:pic>
        <p:pic>
          <p:nvPicPr>
            <p:cNvPr id="5" name="object 6">
              <a:extLst>
                <a:ext uri="{FF2B5EF4-FFF2-40B4-BE49-F238E27FC236}">
                  <a16:creationId xmlns:a16="http://schemas.microsoft.com/office/drawing/2014/main" id="{E665D128-267F-2426-96EF-5BA2DC13C642}"/>
                </a:ext>
              </a:extLst>
            </p:cNvPr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2828925" y="243549"/>
              <a:ext cx="4585268" cy="522565"/>
            </a:xfrm>
            <a:prstGeom prst="rect">
              <a:avLst/>
            </a:prstGeom>
          </p:spPr>
        </p:pic>
        <p:sp>
          <p:nvSpPr>
            <p:cNvPr id="6" name="object 7">
              <a:extLst>
                <a:ext uri="{FF2B5EF4-FFF2-40B4-BE49-F238E27FC236}">
                  <a16:creationId xmlns:a16="http://schemas.microsoft.com/office/drawing/2014/main" id="{CBF6A033-32D1-951A-E7A6-E89336F7E40B}"/>
                </a:ext>
              </a:extLst>
            </p:cNvPr>
            <p:cNvSpPr/>
            <p:nvPr/>
          </p:nvSpPr>
          <p:spPr>
            <a:xfrm>
              <a:off x="2883931" y="282892"/>
              <a:ext cx="4479290" cy="416559"/>
            </a:xfrm>
            <a:custGeom>
              <a:avLst/>
              <a:gdLst/>
              <a:ahLst/>
              <a:cxnLst/>
              <a:rect l="l" t="t" r="r" b="b"/>
              <a:pathLst>
                <a:path w="4479290" h="416559">
                  <a:moveTo>
                    <a:pt x="4394158" y="0"/>
                  </a:moveTo>
                  <a:lnTo>
                    <a:pt x="84972" y="0"/>
                  </a:lnTo>
                  <a:lnTo>
                    <a:pt x="51863" y="5448"/>
                  </a:lnTo>
                  <a:lnTo>
                    <a:pt x="24831" y="20326"/>
                  </a:lnTo>
                  <a:lnTo>
                    <a:pt x="6705" y="42329"/>
                  </a:lnTo>
                  <a:lnTo>
                    <a:pt x="0" y="69361"/>
                  </a:lnTo>
                  <a:lnTo>
                    <a:pt x="0" y="346910"/>
                  </a:lnTo>
                  <a:lnTo>
                    <a:pt x="6705" y="373941"/>
                  </a:lnTo>
                  <a:lnTo>
                    <a:pt x="24831" y="395944"/>
                  </a:lnTo>
                  <a:lnTo>
                    <a:pt x="51863" y="410822"/>
                  </a:lnTo>
                  <a:lnTo>
                    <a:pt x="84972" y="416271"/>
                  </a:lnTo>
                  <a:lnTo>
                    <a:pt x="4394158" y="416271"/>
                  </a:lnTo>
                  <a:lnTo>
                    <a:pt x="4427267" y="410822"/>
                  </a:lnTo>
                  <a:lnTo>
                    <a:pt x="4454299" y="395944"/>
                  </a:lnTo>
                  <a:lnTo>
                    <a:pt x="4472425" y="373941"/>
                  </a:lnTo>
                  <a:lnTo>
                    <a:pt x="4479131" y="346910"/>
                  </a:lnTo>
                  <a:lnTo>
                    <a:pt x="4479131" y="69361"/>
                  </a:lnTo>
                  <a:lnTo>
                    <a:pt x="4472425" y="42329"/>
                  </a:lnTo>
                  <a:lnTo>
                    <a:pt x="4454299" y="20326"/>
                  </a:lnTo>
                  <a:lnTo>
                    <a:pt x="4427267" y="5448"/>
                  </a:lnTo>
                  <a:lnTo>
                    <a:pt x="4394158" y="0"/>
                  </a:lnTo>
                  <a:close/>
                </a:path>
              </a:pathLst>
            </a:custGeom>
            <a:solidFill>
              <a:srgbClr val="FF6600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</p:grpSp>
      <p:sp>
        <p:nvSpPr>
          <p:cNvPr id="7" name="TextBox 6">
            <a:extLst>
              <a:ext uri="{FF2B5EF4-FFF2-40B4-BE49-F238E27FC236}">
                <a16:creationId xmlns:a16="http://schemas.microsoft.com/office/drawing/2014/main" id="{0A3D4540-9EF3-DE22-0F98-4B4BAC3FACC2}"/>
              </a:ext>
            </a:extLst>
          </p:cNvPr>
          <p:cNvSpPr txBox="1"/>
          <p:nvPr/>
        </p:nvSpPr>
        <p:spPr>
          <a:xfrm>
            <a:off x="2826543" y="50360"/>
            <a:ext cx="5266218" cy="3924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95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DATA INTEGRITY &amp; VALIDATION</a:t>
            </a:r>
          </a:p>
        </p:txBody>
      </p:sp>
      <p:pic>
        <p:nvPicPr>
          <p:cNvPr id="27" name="Picture 26">
            <a:extLst>
              <a:ext uri="{FF2B5EF4-FFF2-40B4-BE49-F238E27FC236}">
                <a16:creationId xmlns:a16="http://schemas.microsoft.com/office/drawing/2014/main" id="{8B0CF64E-5181-F131-A5B5-BD451748CE61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01508" y="708762"/>
            <a:ext cx="9655377" cy="2149026"/>
          </a:xfrm>
          <a:prstGeom prst="rect">
            <a:avLst/>
          </a:prstGeom>
        </p:spPr>
      </p:pic>
      <p:sp>
        <p:nvSpPr>
          <p:cNvPr id="29" name="TextBox 28">
            <a:extLst>
              <a:ext uri="{FF2B5EF4-FFF2-40B4-BE49-F238E27FC236}">
                <a16:creationId xmlns:a16="http://schemas.microsoft.com/office/drawing/2014/main" id="{464577F2-52C7-0F9F-71A4-FA14CD4B5633}"/>
              </a:ext>
            </a:extLst>
          </p:cNvPr>
          <p:cNvSpPr txBox="1"/>
          <p:nvPr/>
        </p:nvSpPr>
        <p:spPr>
          <a:xfrm>
            <a:off x="1038580" y="658747"/>
            <a:ext cx="9014176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>
                <a:solidFill>
                  <a:schemeClr val="bg1"/>
                </a:solidFill>
                <a:highlight>
                  <a:srgbClr val="000080"/>
                </a:highlight>
              </a:rPr>
              <a:t>Checking</a:t>
            </a:r>
            <a:r>
              <a:rPr lang="en-US" sz="1800" b="1" dirty="0">
                <a:solidFill>
                  <a:schemeClr val="bg1"/>
                </a:solidFill>
                <a:highlight>
                  <a:srgbClr val="000080"/>
                </a:highlight>
              </a:rPr>
              <a:t> Duplicate IDs – PRIMARY KEY</a:t>
            </a:r>
            <a:endParaRPr lang="en-IN" sz="1800" b="1" dirty="0">
              <a:solidFill>
                <a:schemeClr val="bg1"/>
              </a:solidFill>
              <a:highlight>
                <a:srgbClr val="000080"/>
              </a:highlight>
            </a:endParaRPr>
          </a:p>
          <a:p>
            <a:endParaRPr lang="en-IN" dirty="0">
              <a:solidFill>
                <a:schemeClr val="bg1"/>
              </a:solidFill>
              <a:highlight>
                <a:srgbClr val="000080"/>
              </a:highlight>
            </a:endParaRP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855A0A49-5994-D8ED-1EF2-0A1964085768}"/>
              </a:ext>
            </a:extLst>
          </p:cNvPr>
          <p:cNvSpPr txBox="1"/>
          <p:nvPr/>
        </p:nvSpPr>
        <p:spPr>
          <a:xfrm>
            <a:off x="635664" y="2435532"/>
            <a:ext cx="9014176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400" b="1" dirty="0">
                <a:solidFill>
                  <a:schemeClr val="bg1"/>
                </a:solidFill>
                <a:highlight>
                  <a:srgbClr val="FF0000"/>
                </a:highlight>
              </a:rPr>
              <a:t>Expected: PRIMARY KEY error</a:t>
            </a:r>
            <a:endParaRPr lang="en-IN" sz="1400" b="1" dirty="0">
              <a:solidFill>
                <a:schemeClr val="bg1"/>
              </a:solidFill>
              <a:highlight>
                <a:srgbClr val="FF0000"/>
              </a:highlight>
            </a:endParaRPr>
          </a:p>
        </p:txBody>
      </p:sp>
      <p:pic>
        <p:nvPicPr>
          <p:cNvPr id="35" name="Picture 34">
            <a:extLst>
              <a:ext uri="{FF2B5EF4-FFF2-40B4-BE49-F238E27FC236}">
                <a16:creationId xmlns:a16="http://schemas.microsoft.com/office/drawing/2014/main" id="{8794BFFD-63CC-EAD4-C4BD-1A6C14189F06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01508" y="2935813"/>
            <a:ext cx="9693480" cy="2339543"/>
          </a:xfrm>
          <a:prstGeom prst="rect">
            <a:avLst/>
          </a:prstGeom>
        </p:spPr>
      </p:pic>
      <p:sp>
        <p:nvSpPr>
          <p:cNvPr id="36" name="TextBox 35">
            <a:extLst>
              <a:ext uri="{FF2B5EF4-FFF2-40B4-BE49-F238E27FC236}">
                <a16:creationId xmlns:a16="http://schemas.microsoft.com/office/drawing/2014/main" id="{4602E710-011F-6430-FD20-597F391886B5}"/>
              </a:ext>
            </a:extLst>
          </p:cNvPr>
          <p:cNvSpPr txBox="1"/>
          <p:nvPr/>
        </p:nvSpPr>
        <p:spPr>
          <a:xfrm>
            <a:off x="1008287" y="2944256"/>
            <a:ext cx="413446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chemeClr val="bg1"/>
                </a:solidFill>
                <a:highlight>
                  <a:srgbClr val="000080"/>
                </a:highlight>
              </a:rPr>
              <a:t>CHECK Constraint – Course Credits</a:t>
            </a:r>
            <a:endParaRPr lang="en-IN" b="1" dirty="0">
              <a:solidFill>
                <a:schemeClr val="bg1"/>
              </a:solidFill>
              <a:highlight>
                <a:srgbClr val="000080"/>
              </a:highlight>
            </a:endParaRP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2EB8DD63-B86C-D938-E9E2-3D764CB58323}"/>
              </a:ext>
            </a:extLst>
          </p:cNvPr>
          <p:cNvSpPr txBox="1"/>
          <p:nvPr/>
        </p:nvSpPr>
        <p:spPr>
          <a:xfrm>
            <a:off x="3484102" y="4809687"/>
            <a:ext cx="342593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dirty="0">
                <a:solidFill>
                  <a:schemeClr val="bg1"/>
                </a:solidFill>
                <a:highlight>
                  <a:srgbClr val="FF0000"/>
                </a:highlight>
              </a:rPr>
              <a:t>Expected: CHECK constraint violation</a:t>
            </a:r>
            <a:endParaRPr lang="en-IN" sz="1400" b="1" dirty="0">
              <a:solidFill>
                <a:schemeClr val="bg1"/>
              </a:solidFill>
              <a:highlight>
                <a:srgbClr val="FF0000"/>
              </a:highlight>
            </a:endParaRPr>
          </a:p>
        </p:txBody>
      </p:sp>
      <p:pic>
        <p:nvPicPr>
          <p:cNvPr id="39" name="Picture 38">
            <a:extLst>
              <a:ext uri="{FF2B5EF4-FFF2-40B4-BE49-F238E27FC236}">
                <a16:creationId xmlns:a16="http://schemas.microsoft.com/office/drawing/2014/main" id="{8EBAC175-D7C3-0138-F642-152BAA088635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01507" y="5353381"/>
            <a:ext cx="9655377" cy="2324301"/>
          </a:xfrm>
          <a:prstGeom prst="rect">
            <a:avLst/>
          </a:prstGeom>
        </p:spPr>
      </p:pic>
      <p:sp>
        <p:nvSpPr>
          <p:cNvPr id="41" name="TextBox 40">
            <a:extLst>
              <a:ext uri="{FF2B5EF4-FFF2-40B4-BE49-F238E27FC236}">
                <a16:creationId xmlns:a16="http://schemas.microsoft.com/office/drawing/2014/main" id="{1BE20677-2D78-DAB8-EE43-71AA71ADD23B}"/>
              </a:ext>
            </a:extLst>
          </p:cNvPr>
          <p:cNvSpPr txBox="1"/>
          <p:nvPr/>
        </p:nvSpPr>
        <p:spPr>
          <a:xfrm>
            <a:off x="1068793" y="5314843"/>
            <a:ext cx="721924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>
                <a:solidFill>
                  <a:schemeClr val="bg1"/>
                </a:solidFill>
                <a:highlight>
                  <a:srgbClr val="000080"/>
                </a:highlight>
              </a:rPr>
              <a:t>NOT NULL Constraint – Student Name</a:t>
            </a:r>
            <a:endParaRPr lang="en-IN" b="1" dirty="0">
              <a:solidFill>
                <a:schemeClr val="bg1"/>
              </a:solidFill>
              <a:highlight>
                <a:srgbClr val="000080"/>
              </a:highlight>
            </a:endParaRP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BB8D0DEE-124F-CBF8-0F1E-11F30BC9D96F}"/>
              </a:ext>
            </a:extLst>
          </p:cNvPr>
          <p:cNvSpPr txBox="1"/>
          <p:nvPr/>
        </p:nvSpPr>
        <p:spPr>
          <a:xfrm>
            <a:off x="3512324" y="7149230"/>
            <a:ext cx="369203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dirty="0">
                <a:solidFill>
                  <a:schemeClr val="bg1"/>
                </a:solidFill>
                <a:highlight>
                  <a:srgbClr val="FF0000"/>
                </a:highlight>
              </a:rPr>
              <a:t>Expected: NOT NULL constraint violation</a:t>
            </a:r>
            <a:endParaRPr lang="en-IN" sz="1400" b="1" dirty="0">
              <a:solidFill>
                <a:schemeClr val="bg1"/>
              </a:solidFill>
              <a:highlight>
                <a:srgbClr val="FF0000"/>
              </a:highlight>
            </a:endParaRPr>
          </a:p>
        </p:txBody>
      </p:sp>
    </p:spTree>
    <p:extLst>
      <p:ext uri="{BB962C8B-B14F-4D97-AF65-F5344CB8AC3E}">
        <p14:creationId xmlns:p14="http://schemas.microsoft.com/office/powerpoint/2010/main" val="2607726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object 3">
            <a:extLst>
              <a:ext uri="{FF2B5EF4-FFF2-40B4-BE49-F238E27FC236}">
                <a16:creationId xmlns:a16="http://schemas.microsoft.com/office/drawing/2014/main" id="{20B8B724-A73F-F006-222B-6A4FF27EB83E}"/>
              </a:ext>
            </a:extLst>
          </p:cNvPr>
          <p:cNvGrpSpPr/>
          <p:nvPr/>
        </p:nvGrpSpPr>
        <p:grpSpPr>
          <a:xfrm>
            <a:off x="2477248" y="152400"/>
            <a:ext cx="5103904" cy="1198311"/>
            <a:chOff x="2648188" y="47148"/>
            <a:chExt cx="5103904" cy="1198311"/>
          </a:xfrm>
        </p:grpSpPr>
        <p:pic>
          <p:nvPicPr>
            <p:cNvPr id="8" name="object 4">
              <a:extLst>
                <a:ext uri="{FF2B5EF4-FFF2-40B4-BE49-F238E27FC236}">
                  <a16:creationId xmlns:a16="http://schemas.microsoft.com/office/drawing/2014/main" id="{8D96FE08-6C48-29F6-B8BF-733A1FE4EFC2}"/>
                </a:ext>
              </a:extLst>
            </p:cNvPr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648188" y="47148"/>
              <a:ext cx="5103904" cy="1198311"/>
            </a:xfrm>
            <a:prstGeom prst="rect">
              <a:avLst/>
            </a:prstGeom>
          </p:spPr>
        </p:pic>
        <p:pic>
          <p:nvPicPr>
            <p:cNvPr id="9" name="object 5">
              <a:extLst>
                <a:ext uri="{FF2B5EF4-FFF2-40B4-BE49-F238E27FC236}">
                  <a16:creationId xmlns:a16="http://schemas.microsoft.com/office/drawing/2014/main" id="{F663E0BF-F2C3-9990-10F0-85152F3B7499}"/>
                </a:ext>
              </a:extLst>
            </p:cNvPr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703195" y="86439"/>
              <a:ext cx="4997767" cy="1092279"/>
            </a:xfrm>
            <a:prstGeom prst="rect">
              <a:avLst/>
            </a:prstGeom>
          </p:spPr>
        </p:pic>
        <p:pic>
          <p:nvPicPr>
            <p:cNvPr id="10" name="object 6">
              <a:extLst>
                <a:ext uri="{FF2B5EF4-FFF2-40B4-BE49-F238E27FC236}">
                  <a16:creationId xmlns:a16="http://schemas.microsoft.com/office/drawing/2014/main" id="{AF92C391-8A67-101D-C7DE-D42721562E91}"/>
                </a:ext>
              </a:extLst>
            </p:cNvPr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2828925" y="243549"/>
              <a:ext cx="4585268" cy="522565"/>
            </a:xfrm>
            <a:prstGeom prst="rect">
              <a:avLst/>
            </a:prstGeom>
          </p:spPr>
        </p:pic>
        <p:sp>
          <p:nvSpPr>
            <p:cNvPr id="11" name="object 7">
              <a:extLst>
                <a:ext uri="{FF2B5EF4-FFF2-40B4-BE49-F238E27FC236}">
                  <a16:creationId xmlns:a16="http://schemas.microsoft.com/office/drawing/2014/main" id="{5C67209A-2109-EE49-1C12-165FDE2056AC}"/>
                </a:ext>
              </a:extLst>
            </p:cNvPr>
            <p:cNvSpPr/>
            <p:nvPr/>
          </p:nvSpPr>
          <p:spPr>
            <a:xfrm>
              <a:off x="2883931" y="282892"/>
              <a:ext cx="4479290" cy="416559"/>
            </a:xfrm>
            <a:custGeom>
              <a:avLst/>
              <a:gdLst/>
              <a:ahLst/>
              <a:cxnLst/>
              <a:rect l="l" t="t" r="r" b="b"/>
              <a:pathLst>
                <a:path w="4479290" h="416559">
                  <a:moveTo>
                    <a:pt x="4394158" y="0"/>
                  </a:moveTo>
                  <a:lnTo>
                    <a:pt x="84972" y="0"/>
                  </a:lnTo>
                  <a:lnTo>
                    <a:pt x="51863" y="5448"/>
                  </a:lnTo>
                  <a:lnTo>
                    <a:pt x="24831" y="20326"/>
                  </a:lnTo>
                  <a:lnTo>
                    <a:pt x="6705" y="42329"/>
                  </a:lnTo>
                  <a:lnTo>
                    <a:pt x="0" y="69361"/>
                  </a:lnTo>
                  <a:lnTo>
                    <a:pt x="0" y="346910"/>
                  </a:lnTo>
                  <a:lnTo>
                    <a:pt x="6705" y="373941"/>
                  </a:lnTo>
                  <a:lnTo>
                    <a:pt x="24831" y="395944"/>
                  </a:lnTo>
                  <a:lnTo>
                    <a:pt x="51863" y="410822"/>
                  </a:lnTo>
                  <a:lnTo>
                    <a:pt x="84972" y="416271"/>
                  </a:lnTo>
                  <a:lnTo>
                    <a:pt x="4394158" y="416271"/>
                  </a:lnTo>
                  <a:lnTo>
                    <a:pt x="4427267" y="410822"/>
                  </a:lnTo>
                  <a:lnTo>
                    <a:pt x="4454299" y="395944"/>
                  </a:lnTo>
                  <a:lnTo>
                    <a:pt x="4472425" y="373941"/>
                  </a:lnTo>
                  <a:lnTo>
                    <a:pt x="4479131" y="346910"/>
                  </a:lnTo>
                  <a:lnTo>
                    <a:pt x="4479131" y="69361"/>
                  </a:lnTo>
                  <a:lnTo>
                    <a:pt x="4472425" y="42329"/>
                  </a:lnTo>
                  <a:lnTo>
                    <a:pt x="4454299" y="20326"/>
                  </a:lnTo>
                  <a:lnTo>
                    <a:pt x="4427267" y="5448"/>
                  </a:lnTo>
                  <a:lnTo>
                    <a:pt x="4394158" y="0"/>
                  </a:lnTo>
                  <a:close/>
                </a:path>
              </a:pathLst>
            </a:custGeom>
            <a:solidFill>
              <a:srgbClr val="FF66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2" name="object 9">
            <a:extLst>
              <a:ext uri="{FF2B5EF4-FFF2-40B4-BE49-F238E27FC236}">
                <a16:creationId xmlns:a16="http://schemas.microsoft.com/office/drawing/2014/main" id="{F513CBE2-66AF-A982-0CC5-B24C79BA9503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945255" y="432593"/>
            <a:ext cx="2167890" cy="32766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lang="en-IN" sz="195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</a:p>
        </p:txBody>
      </p:sp>
      <p:pic>
        <p:nvPicPr>
          <p:cNvPr id="13" name="object 3">
            <a:extLst>
              <a:ext uri="{FF2B5EF4-FFF2-40B4-BE49-F238E27FC236}">
                <a16:creationId xmlns:a16="http://schemas.microsoft.com/office/drawing/2014/main" id="{A2CEDFE4-2383-831F-CDEE-1CF3B0215E16}"/>
              </a:ext>
            </a:extLst>
          </p:cNvPr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290750" y="204311"/>
            <a:ext cx="1163002" cy="424338"/>
          </a:xfrm>
          <a:prstGeom prst="rect">
            <a:avLst/>
          </a:prstGeom>
        </p:spPr>
      </p:pic>
      <p:pic>
        <p:nvPicPr>
          <p:cNvPr id="3" name="Graphic 2" descr="Checklist with solid fill">
            <a:extLst>
              <a:ext uri="{FF2B5EF4-FFF2-40B4-BE49-F238E27FC236}">
                <a16:creationId xmlns:a16="http://schemas.microsoft.com/office/drawing/2014/main" id="{5F08CEE6-EF9C-1B2A-FB5C-F97622BAA49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52400" y="990600"/>
            <a:ext cx="914400" cy="91440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4977D004-F9AE-2902-BEBB-BF4E50610875}"/>
              </a:ext>
            </a:extLst>
          </p:cNvPr>
          <p:cNvSpPr txBox="1"/>
          <p:nvPr/>
        </p:nvSpPr>
        <p:spPr>
          <a:xfrm>
            <a:off x="896365" y="1263134"/>
            <a:ext cx="163589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solidFill>
                  <a:schemeClr val="accent1"/>
                </a:solidFill>
              </a:rPr>
              <a:t>Summary</a:t>
            </a:r>
            <a:endParaRPr lang="en-IN" sz="2000" b="1" dirty="0">
              <a:solidFill>
                <a:schemeClr val="accent1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E10B667-BD1B-B7F3-7E82-8093CB311773}"/>
              </a:ext>
            </a:extLst>
          </p:cNvPr>
          <p:cNvSpPr txBox="1"/>
          <p:nvPr/>
        </p:nvSpPr>
        <p:spPr>
          <a:xfrm>
            <a:off x="188089" y="1956251"/>
            <a:ext cx="5867400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The project successfully designed and implemented a university academic management system using MYSQL</a:t>
            </a:r>
            <a:r>
              <a:rPr lang="en-IN" b="1" dirty="0"/>
              <a:t>.The system stores academic data in normalized database, enforces data integrity </a:t>
            </a:r>
            <a:r>
              <a:rPr lang="en-IN" b="1" dirty="0">
                <a:solidFill>
                  <a:schemeClr val="tx1"/>
                </a:solidFill>
              </a:rPr>
              <a:t>with</a:t>
            </a:r>
            <a:r>
              <a:rPr lang="en-IN" b="1" dirty="0"/>
              <a:t> constraints, and provides seventeen useful SQL queries for efficient data retrieval and management.</a:t>
            </a:r>
            <a:endParaRPr lang="en-US" b="1" dirty="0"/>
          </a:p>
        </p:txBody>
      </p:sp>
      <p:sp>
        <p:nvSpPr>
          <p:cNvPr id="15" name="Flowchart: Connector 14">
            <a:extLst>
              <a:ext uri="{FF2B5EF4-FFF2-40B4-BE49-F238E27FC236}">
                <a16:creationId xmlns:a16="http://schemas.microsoft.com/office/drawing/2014/main" id="{5CEF4420-F2B1-CD85-910B-EE477AABC30B}"/>
              </a:ext>
            </a:extLst>
          </p:cNvPr>
          <p:cNvSpPr/>
          <p:nvPr/>
        </p:nvSpPr>
        <p:spPr>
          <a:xfrm>
            <a:off x="6527348" y="1081527"/>
            <a:ext cx="664933" cy="677509"/>
          </a:xfrm>
          <a:prstGeom prst="flowChartConnector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6" name="Star: 6 Points 15">
            <a:extLst>
              <a:ext uri="{FF2B5EF4-FFF2-40B4-BE49-F238E27FC236}">
                <a16:creationId xmlns:a16="http://schemas.microsoft.com/office/drawing/2014/main" id="{FD6ECABE-F872-023C-D73B-F74117566B26}"/>
              </a:ext>
            </a:extLst>
          </p:cNvPr>
          <p:cNvSpPr/>
          <p:nvPr/>
        </p:nvSpPr>
        <p:spPr>
          <a:xfrm>
            <a:off x="6636056" y="1127225"/>
            <a:ext cx="450544" cy="561446"/>
          </a:xfrm>
          <a:prstGeom prst="star6">
            <a:avLst>
              <a:gd name="adj" fmla="val 23805"/>
              <a:gd name="hf" fmla="val 115470"/>
            </a:avLst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>
              <a:effectLst>
                <a:outerShdw blurRad="60007" dist="200025" dir="15000000" sy="30000" kx="-1800000" algn="bl" rotWithShape="0">
                  <a:prstClr val="black">
                    <a:alpha val="32000"/>
                  </a:prstClr>
                </a:outerShdw>
              </a:effectLst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4CCFF7EF-04AF-75FD-8BE2-B98EB9BE432C}"/>
              </a:ext>
            </a:extLst>
          </p:cNvPr>
          <p:cNvSpPr txBox="1"/>
          <p:nvPr/>
        </p:nvSpPr>
        <p:spPr>
          <a:xfrm>
            <a:off x="7243253" y="1207893"/>
            <a:ext cx="195277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dirty="0">
                <a:solidFill>
                  <a:schemeClr val="accent1"/>
                </a:solidFill>
              </a:rPr>
              <a:t>Key Learnings</a:t>
            </a:r>
            <a:endParaRPr lang="en-IN" sz="2000" b="1" dirty="0">
              <a:solidFill>
                <a:schemeClr val="accent1"/>
              </a:solidFill>
            </a:endParaRPr>
          </a:p>
        </p:txBody>
      </p: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271E318A-4F9F-CAA4-A75F-06BE8FC7F878}"/>
              </a:ext>
            </a:extLst>
          </p:cNvPr>
          <p:cNvSpPr/>
          <p:nvPr/>
        </p:nvSpPr>
        <p:spPr>
          <a:xfrm>
            <a:off x="6288911" y="1887568"/>
            <a:ext cx="3581400" cy="2133600"/>
          </a:xfrm>
          <a:prstGeom prst="round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D7D512B6-1B21-B2D8-58D9-0E5E7F1C3859}"/>
              </a:ext>
            </a:extLst>
          </p:cNvPr>
          <p:cNvSpPr txBox="1"/>
          <p:nvPr/>
        </p:nvSpPr>
        <p:spPr>
          <a:xfrm>
            <a:off x="6288911" y="1980219"/>
            <a:ext cx="3388489" cy="206210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ü"/>
            </a:pPr>
            <a:r>
              <a:rPr lang="en-US" sz="1600" b="1" dirty="0"/>
              <a:t>Designed a data base with ER and relational schema.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US" sz="1600" b="1" dirty="0"/>
              <a:t>Applied normalization up to 3NF.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US" sz="1600" b="1" dirty="0"/>
              <a:t>Implemented DDL and DQL operations.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US" sz="1600" b="1" dirty="0"/>
              <a:t>Used constraints to maintain data integrity.</a:t>
            </a:r>
            <a:endParaRPr lang="en-IN" sz="1600" b="1" dirty="0"/>
          </a:p>
        </p:txBody>
      </p:sp>
      <p:sp>
        <p:nvSpPr>
          <p:cNvPr id="20" name="Rectangle: Rounded Corners 19">
            <a:extLst>
              <a:ext uri="{FF2B5EF4-FFF2-40B4-BE49-F238E27FC236}">
                <a16:creationId xmlns:a16="http://schemas.microsoft.com/office/drawing/2014/main" id="{857CD3EB-1DEE-26E5-F740-3F15823B55CC}"/>
              </a:ext>
            </a:extLst>
          </p:cNvPr>
          <p:cNvSpPr/>
          <p:nvPr/>
        </p:nvSpPr>
        <p:spPr>
          <a:xfrm>
            <a:off x="335875" y="4483259"/>
            <a:ext cx="9386650" cy="2679541"/>
          </a:xfrm>
          <a:prstGeom prst="round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pic>
        <p:nvPicPr>
          <p:cNvPr id="22" name="Graphic 21" descr="Lightbulb with solid fill">
            <a:extLst>
              <a:ext uri="{FF2B5EF4-FFF2-40B4-BE49-F238E27FC236}">
                <a16:creationId xmlns:a16="http://schemas.microsoft.com/office/drawing/2014/main" id="{828333D9-66AA-E994-FA3A-39179A36974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363638" y="3674282"/>
            <a:ext cx="762000" cy="762000"/>
          </a:xfrm>
          <a:prstGeom prst="rect">
            <a:avLst/>
          </a:prstGeom>
        </p:spPr>
      </p:pic>
      <p:sp>
        <p:nvSpPr>
          <p:cNvPr id="23" name="TextBox 22">
            <a:extLst>
              <a:ext uri="{FF2B5EF4-FFF2-40B4-BE49-F238E27FC236}">
                <a16:creationId xmlns:a16="http://schemas.microsoft.com/office/drawing/2014/main" id="{787BE6FF-0566-3B0C-94D5-8109F2A810A7}"/>
              </a:ext>
            </a:extLst>
          </p:cNvPr>
          <p:cNvSpPr txBox="1"/>
          <p:nvPr/>
        </p:nvSpPr>
        <p:spPr>
          <a:xfrm>
            <a:off x="976738" y="3916057"/>
            <a:ext cx="279275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chemeClr val="accent6"/>
                </a:solidFill>
              </a:rPr>
              <a:t>Future </a:t>
            </a:r>
            <a:r>
              <a:rPr lang="en-US" sz="2000" b="1" dirty="0">
                <a:solidFill>
                  <a:schemeClr val="accent6"/>
                </a:solidFill>
              </a:rPr>
              <a:t>Enhancements</a:t>
            </a:r>
            <a:endParaRPr lang="en-IN" sz="2000" b="1" dirty="0">
              <a:solidFill>
                <a:schemeClr val="accent6"/>
              </a:solidFill>
            </a:endParaRPr>
          </a:p>
        </p:txBody>
      </p:sp>
      <p:sp>
        <p:nvSpPr>
          <p:cNvPr id="26" name="Arrow: Right 25">
            <a:extLst>
              <a:ext uri="{FF2B5EF4-FFF2-40B4-BE49-F238E27FC236}">
                <a16:creationId xmlns:a16="http://schemas.microsoft.com/office/drawing/2014/main" id="{387EF700-4534-CF04-CEDE-0A6E161DD0A2}"/>
              </a:ext>
            </a:extLst>
          </p:cNvPr>
          <p:cNvSpPr/>
          <p:nvPr/>
        </p:nvSpPr>
        <p:spPr>
          <a:xfrm>
            <a:off x="609600" y="4928447"/>
            <a:ext cx="445816" cy="254668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164D0845-C74A-AB61-E30E-3550EA2DC2E9}"/>
              </a:ext>
            </a:extLst>
          </p:cNvPr>
          <p:cNvSpPr txBox="1"/>
          <p:nvPr/>
        </p:nvSpPr>
        <p:spPr>
          <a:xfrm>
            <a:off x="1135450" y="4860507"/>
            <a:ext cx="2415329" cy="169277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solidFill>
                  <a:schemeClr val="accent1"/>
                </a:solidFill>
              </a:rPr>
              <a:t>Web Interface</a:t>
            </a:r>
          </a:p>
          <a:p>
            <a:endParaRPr lang="en-US" sz="2000" b="1" dirty="0">
              <a:solidFill>
                <a:schemeClr val="accent6"/>
              </a:solidFill>
            </a:endParaRPr>
          </a:p>
          <a:p>
            <a:r>
              <a:rPr lang="en-US" sz="1600" b="1" dirty="0"/>
              <a:t>Develop a user-friendly web portal for easy access and management.</a:t>
            </a:r>
            <a:endParaRPr lang="en-IN" sz="1600" b="1" dirty="0"/>
          </a:p>
        </p:txBody>
      </p:sp>
      <p:pic>
        <p:nvPicPr>
          <p:cNvPr id="30" name="Graphic 29" descr="Cloud Computing with solid fill">
            <a:extLst>
              <a:ext uri="{FF2B5EF4-FFF2-40B4-BE49-F238E27FC236}">
                <a16:creationId xmlns:a16="http://schemas.microsoft.com/office/drawing/2014/main" id="{C957C20B-2A99-88A8-13E4-9CBEA4B909F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3273615" y="4612106"/>
            <a:ext cx="715660" cy="715660"/>
          </a:xfrm>
          <a:prstGeom prst="rect">
            <a:avLst/>
          </a:prstGeom>
        </p:spPr>
      </p:pic>
      <p:sp>
        <p:nvSpPr>
          <p:cNvPr id="31" name="TextBox 30">
            <a:extLst>
              <a:ext uri="{FF2B5EF4-FFF2-40B4-BE49-F238E27FC236}">
                <a16:creationId xmlns:a16="http://schemas.microsoft.com/office/drawing/2014/main" id="{313EFAEE-AEB3-7939-815F-7FD0F1986D5A}"/>
              </a:ext>
            </a:extLst>
          </p:cNvPr>
          <p:cNvSpPr txBox="1"/>
          <p:nvPr/>
        </p:nvSpPr>
        <p:spPr>
          <a:xfrm>
            <a:off x="3875679" y="4844110"/>
            <a:ext cx="230704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dirty="0">
                <a:solidFill>
                  <a:schemeClr val="accent1"/>
                </a:solidFill>
              </a:rPr>
              <a:t>Cloud Integration</a:t>
            </a:r>
            <a:endParaRPr lang="en-IN" sz="2000" b="1" dirty="0">
              <a:solidFill>
                <a:schemeClr val="accent1"/>
              </a:solidFill>
            </a:endParaRP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762F4CA1-AF90-ACB0-8729-DB1D3779379D}"/>
              </a:ext>
            </a:extLst>
          </p:cNvPr>
          <p:cNvSpPr txBox="1"/>
          <p:nvPr/>
        </p:nvSpPr>
        <p:spPr>
          <a:xfrm>
            <a:off x="3945255" y="5327766"/>
            <a:ext cx="2031548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dirty="0"/>
              <a:t>Host the database on a cloud</a:t>
            </a:r>
          </a:p>
          <a:p>
            <a:r>
              <a:rPr lang="en-US" sz="1600" b="1" dirty="0"/>
              <a:t>Platform for better scalability and security.</a:t>
            </a:r>
            <a:endParaRPr lang="en-IN" sz="1600" b="1" dirty="0"/>
          </a:p>
        </p:txBody>
      </p:sp>
      <p:pic>
        <p:nvPicPr>
          <p:cNvPr id="34" name="Graphic 33" descr="Bar chart with solid fill">
            <a:extLst>
              <a:ext uri="{FF2B5EF4-FFF2-40B4-BE49-F238E27FC236}">
                <a16:creationId xmlns:a16="http://schemas.microsoft.com/office/drawing/2014/main" id="{7FEAEE5F-98D4-A38D-8CEE-92D2A515392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6484638" y="4707972"/>
            <a:ext cx="590857" cy="590857"/>
          </a:xfrm>
          <a:prstGeom prst="rect">
            <a:avLst/>
          </a:prstGeom>
        </p:spPr>
      </p:pic>
      <p:sp>
        <p:nvSpPr>
          <p:cNvPr id="35" name="TextBox 34">
            <a:extLst>
              <a:ext uri="{FF2B5EF4-FFF2-40B4-BE49-F238E27FC236}">
                <a16:creationId xmlns:a16="http://schemas.microsoft.com/office/drawing/2014/main" id="{0095C5A8-3CB7-E487-F032-A2E012327DF2}"/>
              </a:ext>
            </a:extLst>
          </p:cNvPr>
          <p:cNvSpPr txBox="1"/>
          <p:nvPr/>
        </p:nvSpPr>
        <p:spPr>
          <a:xfrm>
            <a:off x="7036465" y="4844110"/>
            <a:ext cx="236635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dirty="0">
                <a:solidFill>
                  <a:schemeClr val="accent1"/>
                </a:solidFill>
              </a:rPr>
              <a:t>Advanced reports</a:t>
            </a:r>
            <a:endParaRPr lang="en-IN" sz="2000" b="1" dirty="0">
              <a:solidFill>
                <a:schemeClr val="accent1"/>
              </a:solidFill>
            </a:endParaRP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5D39C3F9-D287-0184-CA60-F4EF293E489B}"/>
              </a:ext>
            </a:extLst>
          </p:cNvPr>
          <p:cNvSpPr txBox="1"/>
          <p:nvPr/>
        </p:nvSpPr>
        <p:spPr>
          <a:xfrm>
            <a:off x="6563688" y="5368955"/>
            <a:ext cx="2905409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dirty="0"/>
              <a:t>Add graphical reports</a:t>
            </a:r>
          </a:p>
          <a:p>
            <a:r>
              <a:rPr lang="en-US" sz="1600" b="1" dirty="0"/>
              <a:t>and dashboards for</a:t>
            </a:r>
          </a:p>
          <a:p>
            <a:r>
              <a:rPr lang="en-US" sz="1600" b="1" dirty="0"/>
              <a:t>quick analysis of academic   </a:t>
            </a:r>
          </a:p>
          <a:p>
            <a:r>
              <a:rPr lang="en-US" sz="1600" b="1" dirty="0"/>
              <a:t>data.</a:t>
            </a:r>
            <a:endParaRPr lang="en-IN" sz="1600" b="1" dirty="0"/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311509D6-116C-A681-000F-ADD1F55F8B2F}"/>
              </a:ext>
            </a:extLst>
          </p:cNvPr>
          <p:cNvSpPr txBox="1"/>
          <p:nvPr/>
        </p:nvSpPr>
        <p:spPr>
          <a:xfrm>
            <a:off x="3550779" y="7313672"/>
            <a:ext cx="84582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dirty="0">
                <a:solidFill>
                  <a:srgbClr val="8A9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University Academic Management System  |  DBMS Cornerstone Project – 2nd Review</a:t>
            </a:r>
            <a:endParaRPr lang="en-US" sz="1400" dirty="0"/>
          </a:p>
        </p:txBody>
      </p:sp>
    </p:spTree>
    <p:extLst>
      <p:ext uri="{BB962C8B-B14F-4D97-AF65-F5344CB8AC3E}">
        <p14:creationId xmlns:p14="http://schemas.microsoft.com/office/powerpoint/2010/main" val="269419278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F5B32A-9B14-7FA0-D59B-AF32355B781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200400" y="3352800"/>
            <a:ext cx="4038600" cy="738664"/>
          </a:xfrm>
        </p:spPr>
        <p:txBody>
          <a:bodyPr/>
          <a:lstStyle/>
          <a:p>
            <a:r>
              <a:rPr lang="en-IN" sz="4800" dirty="0">
                <a:solidFill>
                  <a:schemeClr val="accent6">
                    <a:lumMod val="75000"/>
                  </a:schemeClr>
                </a:solidFill>
              </a:rPr>
              <a:t>THANK YOU</a:t>
            </a:r>
          </a:p>
        </p:txBody>
      </p:sp>
      <p:pic>
        <p:nvPicPr>
          <p:cNvPr id="4" name="object 3">
            <a:extLst>
              <a:ext uri="{FF2B5EF4-FFF2-40B4-BE49-F238E27FC236}">
                <a16:creationId xmlns:a16="http://schemas.microsoft.com/office/drawing/2014/main" id="{82A927C3-140A-7ABC-91C2-249562DF33FB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90750" y="204311"/>
            <a:ext cx="1163002" cy="424338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5CC38C35-DA13-9F65-97AE-A04D7EEBB4C1}"/>
              </a:ext>
            </a:extLst>
          </p:cNvPr>
          <p:cNvSpPr txBox="1"/>
          <p:nvPr/>
        </p:nvSpPr>
        <p:spPr>
          <a:xfrm>
            <a:off x="3505200" y="7315200"/>
            <a:ext cx="87630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dirty="0">
                <a:solidFill>
                  <a:srgbClr val="8A9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University Academic Management System  |  DBMS Cornerstone Project – 2nd Review</a:t>
            </a:r>
            <a:endParaRPr lang="en-US" sz="1400" dirty="0"/>
          </a:p>
        </p:txBody>
      </p:sp>
    </p:spTree>
    <p:extLst>
      <p:ext uri="{BB962C8B-B14F-4D97-AF65-F5344CB8AC3E}">
        <p14:creationId xmlns:p14="http://schemas.microsoft.com/office/powerpoint/2010/main" val="74677875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3050</TotalTime>
  <Words>1373</Words>
  <Application>Microsoft Office PowerPoint</Application>
  <PresentationFormat>Custom</PresentationFormat>
  <Paragraphs>315</Paragraphs>
  <Slides>16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5" baseType="lpstr">
      <vt:lpstr>Arial</vt:lpstr>
      <vt:lpstr>Calibri</vt:lpstr>
      <vt:lpstr>Cambria</vt:lpstr>
      <vt:lpstr>Courier New</vt:lpstr>
      <vt:lpstr>Georgia</vt:lpstr>
      <vt:lpstr>Palatino Linotype</vt:lpstr>
      <vt:lpstr>Times New Roman</vt:lpstr>
      <vt:lpstr>Wingdings</vt:lpstr>
      <vt:lpstr>Office Theme</vt:lpstr>
      <vt:lpstr>Database Management Systems Cornerstone Project Final Review (Review I &amp; II)</vt:lpstr>
      <vt:lpstr>PowerPoint Presentation</vt:lpstr>
      <vt:lpstr>PowerPoint Presentation</vt:lpstr>
      <vt:lpstr>UNIVERSITY ACADEMIC MANAGEMENT SYSTEM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CONCLUSION</vt:lpstr>
      <vt:lpstr>THANK YOU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Zeroth Review</dc:title>
  <dc:creator>RESHMA BASAPATHI</dc:creator>
  <cp:lastModifiedBy>chalavadi sasank pavan teja</cp:lastModifiedBy>
  <cp:revision>53</cp:revision>
  <cp:lastPrinted>2025-10-14T18:21:49Z</cp:lastPrinted>
  <dcterms:created xsi:type="dcterms:W3CDTF">2025-10-10T08:28:06Z</dcterms:created>
  <dcterms:modified xsi:type="dcterms:W3CDTF">2026-09-29T12:31:36Z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2025-09-12T00:00:00Z</vt:filetime>
  </property>
  <property fmtid="{D5CDD505-2E9C-101B-9397-08002B2CF9AE}" pid="3" name="LastSaved">
    <vt:filetime>2025-10-10T00:00:00Z</vt:filetime>
  </property>
</Properties>
</file>